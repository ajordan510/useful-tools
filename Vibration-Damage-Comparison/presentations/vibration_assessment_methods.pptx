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89a459892c40ef" /><Relationship Type="http://schemas.openxmlformats.org/officeDocument/2006/relationships/extended-properties" Target="/docProps/app.xml" Id="R5d4b8180d2c74efe" /><Relationship Type="http://schemas.openxmlformats.org/officeDocument/2006/relationships/officeDocument" Target="/ppt/presentation.xml" Id="R02f4d7b599d04081" /></Relationships>
</file>

<file path=ppt/presentation.xml><?xml version="1.0" encoding="utf-8"?>
<p:presentation xmlns:p="http://schemas.openxmlformats.org/presentationml/2006/main">
  <p:sldMasterIdLst>
    <p:sldMasterId xmlns:r="http://schemas.openxmlformats.org/officeDocument/2006/relationships" id="2147483648" r:id="Ref33972b05ce42c1"/>
  </p:sldMasterIdLst>
  <p:notesMasterIdLst>
    <p:notesMasterId xmlns:r="http://schemas.openxmlformats.org/officeDocument/2006/relationships" r:id="R0bf30447e3484fc9"/>
  </p:notesMasterIdLst>
  <p:sldIdLst>
    <p:sldId xmlns:r="http://schemas.openxmlformats.org/officeDocument/2006/relationships" id="256" r:id="Rb61ffe09da834868"/>
    <p:sldId xmlns:r="http://schemas.openxmlformats.org/officeDocument/2006/relationships" id="257" r:id="R96d3bf7b0b4241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ea886f2b294541" /><Relationship Type="http://schemas.openxmlformats.org/officeDocument/2006/relationships/slideMaster" Target="/ppt/slideMasters/slideMaster1.xml" Id="Ref33972b05ce42c1" /><Relationship Type="http://schemas.openxmlformats.org/officeDocument/2006/relationships/notesMaster" Target="/ppt/notesMasters/notesMaster1.xml" Id="R0bf30447e3484fc9" /><Relationship Type="http://schemas.openxmlformats.org/officeDocument/2006/relationships/presProps" Target="/ppt/presProps.xml" Id="R17106b3665f34969" /><Relationship Type="http://schemas.openxmlformats.org/officeDocument/2006/relationships/tableStyles" Target="/ppt/tableStyles.xml" Id="R57c68647bbc44bf6" /><Relationship Type="http://schemas.openxmlformats.org/officeDocument/2006/relationships/slide" Target="/ppt/slides/slide1.xml" Id="Rb61ffe09da834868" /><Relationship Type="http://schemas.openxmlformats.org/officeDocument/2006/relationships/slide" Target="/ppt/slides/slide2.xml" Id="R96d3bf7b0b4241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b5615019b74d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e734c702954c86" /><Relationship Type="http://schemas.openxmlformats.org/officeDocument/2006/relationships/notesMaster" Target="/ppt/notesMasters/notesMaster1.xml" Id="R90c755ce947144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8c231a75934ceb" /><Relationship Type="http://schemas.openxmlformats.org/officeDocument/2006/relationships/notesMaster" Target="/ppt/notesMasters/notesMaster1.xml" Id="R82c357630ec846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FATIGUE DAMAGE SPECTRUM: PRESENTER NOTES</a:t>
            </a:r>
          </a:p>
          <a:p xmlns:a="http://schemas.openxmlformats.org/drawingml/2006/main">
            <a:r>
              <a:t/>
            </a:r>
          </a:p>
          <a:p xmlns:a="http://schemas.openxmlformats.org/drawingml/2006/main">
            <a:r>
              <a:t>Purpose: compare normalized sine-dwell and expected random fatigue severity at every natural frequency fn using the same linear SDOF response coordinate, damping Q, and fatigue exponent b. Relative displacement is a stress-response proxy. These normalized indices are comparative severity, not an absolute Miner fraction or a prediction of remaining life.</a:t>
            </a:r>
          </a:p>
          <a:p xmlns:a="http://schemas.openxmlformats.org/drawingml/2006/main">
            <a:r>
              <a:t/>
            </a:r>
          </a:p>
          <a:p xmlns:a="http://schemas.openxmlformats.org/drawingml/2006/main">
            <a:r>
              <a:t>Common transfer function (input acceleration in g, relative displacement in metres):</a:t>
            </a:r>
          </a:p>
          <a:p xmlns:a="http://schemas.openxmlformats.org/drawingml/2006/main">
            <a:r>
              <a:t>|H(f,fn)| = g0 / sqrt[((2πfn)^2 - (2πf)^2)^2 + ((2πfn)(2πf)/Q)^2].</a:t>
            </a:r>
          </a:p>
          <a:p xmlns:a="http://schemas.openxmlformats.org/drawingml/2006/main">
            <a:r>
              <a:t>g0 = 9.80665 m/s²; f is excitation frequency; fn is natural frequency. Q = 1/(2ζ). Both cases use the same oscillator bank and damping. The reference displacement zref = 0.001 m = 1 mm. Normalization cancels in the ratio when both sides use the same reference and fatigue exponent.</a:t>
            </a:r>
          </a:p>
          <a:p xmlns:a="http://schemas.openxmlformats.org/drawingml/2006/main">
            <a:r>
              <a:t/>
            </a:r>
          </a:p>
          <a:p xmlns:a="http://schemas.openxmlformats.org/drawingml/2006/main">
            <a:r>
              <a:t>Sine dwell:</a:t>
            </a:r>
          </a:p>
          <a:p xmlns:a="http://schemas.openxmlformats.org/drawingml/2006/main">
            <a:r>
              <a:t>Ai = |H(fd,i,fn)| ag,i is the peak relative-displacement amplitude of oscillator fn under dwell i. ag,i is peak base acceleration expressed in g, including any input scaling and explicit dwell amplitude override.</a:t>
            </a:r>
          </a:p>
          <a:p xmlns:a="http://schemas.openxmlformats.org/drawingml/2006/main">
            <a:r>
              <a:t>Ni = ri fd,i ti is the credited cycle count. ri is dwell repetitions and ti is credited seconds per repeat. If both a time cap and cycle cap apply, ti = min(time cap, cycle cap/fd,i). A zero cap in the tool means that cap is not active, not zero duration.</a:t>
            </a:r>
          </a:p>
          <a:p xmlns:a="http://schemas.openxmlformats.org/drawingml/2006/main">
            <a:r>
              <a:t>Ds(fn) = Σi Ni (Ai/zref)^b. b is the positive fatigue amplitude exponent. A is cycle amplitude, or half range, not peak-to-peak range. This distinction also applies to the Dirlik density below.</a:t>
            </a:r>
          </a:p>
          <a:p xmlns:a="http://schemas.openxmlformats.org/drawingml/2006/main">
            <a:r>
              <a:t>For independent assumed resonance screening, fd = fn at each oscillator, and Ds uses only that local assumed dwell. Neighboring hypothetical resonances receive no added dwell credit and the scenarios are never summed. At resonance A = g0 Q ag/(2πfn)^2. For a documented dwell schedule, the sum includes actual documented dwells and their off-resonance responses at each oscillator.</a:t>
            </a:r>
          </a:p>
          <a:p xmlns:a="http://schemas.openxmlformats.org/drawingml/2006/main">
            <a:r>
              <a:t>The slide shows dwell damage. When a sine sweep is enabled, the tool adds Dsweep = Σpasses ∫ f [A(f,fn)/zref]^b dt to form total sine damage. The numerator of the reported fatigue coverage then includes both credited sweep and dwell damage. Short dwells and rapid sweeps need a transient response check before steady-state credit is accepted.</a:t>
            </a:r>
          </a:p>
          <a:p xmlns:a="http://schemas.openxmlformats.org/drawingml/2006/main">
            <a:r>
              <a:t/>
            </a:r>
          </a:p>
          <a:p xmlns:a="http://schemas.openxmlformats.org/drawingml/2006/main">
            <a:r>
              <a:t>Random vibration:</a:t>
            </a:r>
          </a:p>
          <a:p xmlns:a="http://schemas.openxmlformats.org/drawingml/2006/main">
            <a:r>
              <a:t>Ga(f) is the one-sided input acceleration PSD in g²/Hz. Gz(f) = |H(f,fn)|² Ga(f) is the relative-displacement response PSD in m²/Hz. The tool interpolates the input PSD log-log and takes it as zero outside the supplied band.</a:t>
            </a:r>
          </a:p>
          <a:p xmlns:a="http://schemas.openxmlformats.org/drawingml/2006/main">
            <a:r>
              <a:t>mj = ∫0∞ f^j Gz(f) df for j = 0, 1, 2, 4. These are moments in Hz, not angular-frequency moments. σ = sqrt(m0) is RMS relative displacement for zero-mean response. νp = sqrt(m4/m2) is the expected peak rate in 1/s. Dirlik uses all four listed spectral moments to define the cycle-amplitude distribution pD(A).</a:t>
            </a:r>
          </a:p>
          <a:p xmlns:a="http://schemas.openxmlformats.org/drawingml/2006/main">
            <a:r>
              <a:t>Dr(fn) = T νp ∫0∞ (A/zref)^b pD(A) dA. pD is a normalized probability density of cycle amplitudes A, not ranges. T is total random exposure in seconds, including repeated exposures. This assumes stationary Gaussian random response and a single power-law fatigue relation.</a:t>
            </a:r>
          </a:p>
          <a:p xmlns:a="http://schemas.openxmlformats.org/drawingml/2006/main">
            <a:r>
              <a:t>The optional narrowband cross-check uses ν0 = sqrt(m2/m0) and DNB = T ν0 (sqrt(2) σ/zref)^b Γ(1+b/2). The implementation uses this Rayleigh limit when the bandwidth approaches the narrowband limit. Dirlik is the default random fatigue model. Either selected fatigue model feeds the coverage denominator.</a:t>
            </a:r>
          </a:p>
          <a:p xmlns:a="http://schemas.openxmlformats.org/drawingml/2006/main">
            <a:r>
              <a:t/>
            </a:r>
          </a:p>
          <a:p xmlns:a="http://schemas.openxmlformats.org/drawingml/2006/main">
            <a:r>
              <a:t>Coverage:</a:t>
            </a:r>
          </a:p>
          <a:p xmlns:a="http://schemas.openxmlformats.org/drawingml/2006/main">
            <a:r>
              <a:t>R = Ds/Dr is the unadjusted damage ratio. F ≥ 1 is the required damage factor. Cf = Ds/(F Dr) = R/F, so Cf ≥ 1 meets the modeled fatigue target at that oscillator. The tool reports the minimum over the selected bank or listed modes. A gap at a hypothetical oscillator does not by itself establish actual hardware failure. Peak-response factor k and the optional extreme model do not alter the fatigue calculation.</a:t>
            </a:r>
          </a:p>
          <a:p xmlns:a="http://schemas.openxmlformats.org/drawingml/2006/main">
            <a:r>
              <a:t/>
            </a:r>
          </a:p>
          <a:p xmlns:a="http://schemas.openxmlformats.org/drawingml/2006/main">
            <a:r>
              <a:t>Sources:</a:t>
            </a:r>
          </a:p>
          <a:p xmlns:a="http://schemas.openxmlformats.org/drawingml/2006/main">
            <a:r>
              <a:t>Project implementation: Vibration-Damage-Comparison/engine.js, version 2.2.0, spectral(), transfer(), atMode(), dwellsAtMode(). Repository commit 4d9fb84.</a:t>
            </a:r>
          </a:p>
          <a:p xmlns:a="http://schemas.openxmlformats.org/drawingml/2006/main">
            <a:r>
              <a:t>Project method description: Vibration-Damage-Comparison/README.md and WHITE_PAPER.md (the latter describes the baseline documented-schedule method).</a:t>
            </a:r>
          </a:p>
          <a:p xmlns:a="http://schemas.openxmlformats.org/drawingml/2006/main">
            <a:r>
              <a:t>Dirlik &amp; Benasciutti (2021), https://doi.org/10.3390/met11091333</a:t>
            </a:r>
          </a:p>
          <a:p xmlns:a="http://schemas.openxmlformats.org/drawingml/2006/main">
            <a:r>
              <a:t>Zorman, Slavič &amp; Boltežar (2023), https://doi.org/10.1016/j.ymssp.2023.110149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PEAK RESPONSE CALCULATION AND COMPARISON: PRESENTER NOTES</a:t>
            </a:r>
          </a:p>
          <a:p xmlns:a="http://schemas.openxmlformats.org/drawingml/2006/main">
            <a:r>
              <a:t/>
            </a:r>
          </a:p>
          <a:p xmlns:a="http://schemas.openxmlformats.org/drawingml/2006/main">
            <a:r>
              <a:t>Purpose: compare the largest modeled sine relative-displacement response with the selected random peak estimate for each oscillator. Use the same Q and response coordinate on both sides. This peak screen is separate from the fatigue calculation and does not evaluate yield, clearance, functional limits, or qualification approval without actual hardware response limits.</a:t>
            </a:r>
          </a:p>
          <a:p xmlns:a="http://schemas.openxmlformats.org/drawingml/2006/main">
            <a:r>
              <a:t/>
            </a:r>
          </a:p>
          <a:p xmlns:a="http://schemas.openxmlformats.org/drawingml/2006/main">
            <a:r>
              <a:t>Sine peak:</a:t>
            </a:r>
          </a:p>
          <a:p xmlns:a="http://schemas.openxmlformats.org/drawingml/2006/main">
            <a:r>
              <a:t>zs,pk = max(Adwell, Asweep), where Adwell means the maximum amplitude over all credited dwells and Asweep means the maximum over all enabled sweep frequencies and passes. An absent contribution receives no peak credit. This is an envelope of modeled steady-state amplitudes, not a simulated transient time-history maximum. Repeating a steady-state exposure changes fatigue cycles, but not its amplitude.</a:t>
            </a:r>
          </a:p>
          <a:p xmlns:a="http://schemas.openxmlformats.org/drawingml/2006/main">
            <a:r>
              <a:t>For an independent assumed resonance, only the local dwell at fd = fn enters Adwell. At that frequency zdwell,pk = g0 Q ag/(2πfn)^2, with ag the peak base acceleration in g and g0 = 9.80665 m/s². Documented dwells use the transfer function at their actual excitation frequencies. The tool separately warns when rapid sweeps or short dwells call steady-state assumptions into question.</a:t>
            </a:r>
          </a:p>
          <a:p xmlns:a="http://schemas.openxmlformats.org/drawingml/2006/main">
            <a:r>
              <a:t>The common transfer function is |H| = g0 / sqrt[(ωn²−ω²)² + (ωn ω/Q)²], where ωn = 2πfn and ω = 2πf. It returns metres of relative displacement per input g.</a:t>
            </a:r>
          </a:p>
          <a:p xmlns:a="http://schemas.openxmlformats.org/drawingml/2006/main">
            <a:r>
              <a:t/>
            </a:r>
          </a:p>
          <a:p xmlns:a="http://schemas.openxmlformats.org/drawingml/2006/main">
            <a:r>
              <a:t>Random response and selected-k default:</a:t>
            </a:r>
          </a:p>
          <a:p xmlns:a="http://schemas.openxmlformats.org/drawingml/2006/main">
            <a:r>
              <a:t>Gz = |H|² Ga is the one-sided relative-displacement PSD. mj = ∫0∞ f^j Gz(f) df, with frequency in Hz. σ = sqrt(m0) is RMS response. The RMS vibration response spectrum (VRS) plots σ against oscillator natural frequency.</a:t>
            </a:r>
          </a:p>
          <a:p xmlns:a="http://schemas.openxmlformats.org/drawingml/2006/main">
            <a:r>
              <a:t>zr,pk = kσ. The default model uses the analyst-selected constant k (the tool starts at 4). A prescribed analysis requirement, measured crest factors, or an independently justified response model should support that choice. k = 4 is an editable screening assumption, not a universal recommendation. A fixed k does not establish a probability that the entire exposure stays below that level. The Gaussian ±3σ instantaneous-sample probability is not an event maximum probability.</a:t>
            </a:r>
          </a:p>
          <a:p xmlns:a="http://schemas.openxmlformats.org/drawingml/2006/main">
            <a:r>
              <a:t/>
            </a:r>
          </a:p>
          <a:p xmlns:a="http://schemas.openxmlformats.org/drawingml/2006/main">
            <a:r>
              <a:t>Optional duration + probability estimate:</a:t>
            </a:r>
          </a:p>
          <a:p xmlns:a="http://schemas.openxmlformats.org/drawingml/2006/main">
            <a:r>
              <a:t>N = ν0 T, where ν0 = sqrt(m2/m0) is the response zero-upcrossing rate in Hz. T is total random exposure in seconds: minutes per exposure × 60 × number of exposures. ν0 comes from each response PSD, rather than being set equal to fn, so N and k vary across the frequency bank.</a:t>
            </a:r>
          </a:p>
          <a:p xmlns:a="http://schemas.openxmlformats.org/drawingml/2006/main">
            <a:r>
              <a:t>kext(N,p) = [sqrt(2 ln N) + 0.5772/sqrt(2 ln N)] × sqrt{−ln[1−p^(1/N)]/ln N}.</a:t>
            </a:r>
          </a:p>
          <a:p xmlns:a="http://schemas.openxmlformats.org/drawingml/2006/main">
            <a:r>
              <a:t>This is Irvine, Peak Response to Random Vibration, Revision H, equation (4), written using p = 1−α, the nominal non-exceedance probability of the maximum absolute response for a given event at a single oscillator. The original source uses α for exceedance probability. All logarithms in this equation are natural logarithms. p is a fraction, so 99% means p = 0.99. The source calls probability-based spectra XRS/URS as distinct from a typical extreme spectrum.</a:t>
            </a:r>
          </a:p>
          <a:p xmlns:a="http://schemas.openxmlformats.org/drawingml/2006/main">
            <a:r>
              <a:t>The optional selected random peak is zr,pk = kext σ. It replaces the denominator in the peak coverage calculation while leaving fatigue unchanged. The calculation approximates stationary Gaussian, nearly narrowband behavior. Probability is per oscillator, not joint across modes, and does not establish hardware reliability. Correlated peaks, non-Gaussian input, broadband response and transients may require an independently supported model or measured/time-history evidence.</a:t>
            </a:r>
          </a:p>
          <a:p xmlns:a="http://schemas.openxmlformats.org/drawingml/2006/main">
            <a:r>
              <a:t>The tool starts the optional probability at an editable 99%, accepts 50–99.99%, and requires N ≥ 100 at every calculated oscillator as a practical long-exposure guard. That guard does not validate the nominal probability. Repeated exposures contribute to total duration, with startup transients excluded. Broadband response (alpha &lt; 0.9) prompts a review note. The implementation uses expm1 for a numerically stable tail calculation.</a:t>
            </a:r>
          </a:p>
          <a:p xmlns:a="http://schemas.openxmlformats.org/drawingml/2006/main">
            <a:r>
              <a:t/>
            </a:r>
          </a:p>
          <a:p xmlns:a="http://schemas.openxmlformats.org/drawingml/2006/main">
            <a:r>
              <a:t>Coverage:</a:t>
            </a:r>
          </a:p>
          <a:p xmlns:a="http://schemas.openxmlformats.org/drawingml/2006/main">
            <a:r>
              <a:t>Cp(fn) = zs,pk(fn)/zr,pk(fn). Cp ≥ 1 means the credited sine peak covers the selected random peak estimate at that oscillator. Report the minimum over the chosen assessment scope. The left response plot coplots sine peak, selected random peak and RMS VRS; only the first two form the coverage ratio. The ratio is a dimensionless value even when plotted on logarithmic axes. A fatigue pass does not imply a peak-response pass, and vice versa.</a:t>
            </a:r>
          </a:p>
          <a:p xmlns:a="http://schemas.openxmlformats.org/drawingml/2006/main">
            <a:r>
              <a:t/>
            </a:r>
          </a:p>
          <a:p xmlns:a="http://schemas.openxmlformats.org/drawingml/2006/main">
            <a:r>
              <a:t>Sources:</a:t>
            </a:r>
          </a:p>
          <a:p xmlns:a="http://schemas.openxmlformats.org/drawingml/2006/main">
            <a:r>
              <a:t>Project implementation: Vibration-Damage-Comparison/engine.js, version 2.2.0, transfer(), sinePeak(), atMode(), extremePeakFactor(), analyze(). Repository commit 4d9fb84.</a:t>
            </a:r>
          </a:p>
          <a:p xmlns:a="http://schemas.openxmlformats.org/drawingml/2006/main">
            <a:r>
              <a:t>Irvine, Peak Response to Random Vibration, Revision H, May 11, 2020, equation (4), https://www.vibrationdata.com/tutorials2/peak_response_random_revisionH.pdf</a:t>
            </a:r>
          </a:p>
          <a:p xmlns:a="http://schemas.openxmlformats.org/drawingml/2006/main">
            <a:r>
              <a:t>Vibration response spectrum definition: https://www.vibrationdata.com/VRS.htm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1aa2db23a14d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4c82950747d44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291587827348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a76689dc51465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bd6e563b6142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61d0f3635140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3D4F94-C7C2-475A-99E0-E378158D9FB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C33F889-6893-4E23-9FC4-F3E25B0FDCE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C9E4D21-C8FE-4FD7-8C7B-35028E7E54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85649F-D0DE-4787-B828-4F0EBC4749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48A21CD-A2DE-4275-955D-17F1259E6A6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55C6563-D623-4FD1-8C59-80F7C7CF58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C5DFB4-06E3-45E4-9C07-10AFBB13BD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95FF27-6306-464A-94AD-BA499C4C49E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EEC634-5773-4DEB-86E0-BD7190EE51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F61CCA-4A16-4A9F-B910-3259EBAD7D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9540b8e94b419f" /><Relationship Type="http://schemas.openxmlformats.org/officeDocument/2006/relationships/slideLayout" Target="/ppt/slideLayouts/slideLayout1.xml" Id="R6e3ed93224e043e5" /><Relationship Type="http://schemas.openxmlformats.org/officeDocument/2006/relationships/slideLayout" Target="/ppt/slideLayouts/slideLayout2.xml" Id="R53880333c13440db" /><Relationship Type="http://schemas.openxmlformats.org/officeDocument/2006/relationships/slideLayout" Target="/ppt/slideLayouts/slideLayout3.xml" Id="R6337ce995c9649ba" /><Relationship Type="http://schemas.openxmlformats.org/officeDocument/2006/relationships/slideLayout" Target="/ppt/slideLayouts/slideLayout4.xml" Id="R1bf77f0483734be8" /><Relationship Type="http://schemas.openxmlformats.org/officeDocument/2006/relationships/slideLayout" Target="/ppt/slideLayouts/slideLayout5.xml" Id="Rfd09d4bcdeaa48a1" /><Relationship Type="http://schemas.openxmlformats.org/officeDocument/2006/relationships/slideLayout" Target="/ppt/slideLayouts/slideLayout6.xml" Id="Re0378bff96da4d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3ed93224e043e5"/>
    <p:sldLayoutId xmlns:r="http://schemas.openxmlformats.org/officeDocument/2006/relationships" id="2147483650" r:id="R53880333c13440db"/>
    <p:sldLayoutId xmlns:r="http://schemas.openxmlformats.org/officeDocument/2006/relationships" id="2147483651" r:id="R6337ce995c9649ba"/>
    <p:sldLayoutId xmlns:r="http://schemas.openxmlformats.org/officeDocument/2006/relationships" id="2147483652" r:id="R1bf77f0483734be8"/>
    <p:sldLayoutId xmlns:r="http://schemas.openxmlformats.org/officeDocument/2006/relationships" id="2147483653" r:id="Rfd09d4bcdeaa48a1"/>
    <p:sldLayoutId xmlns:r="http://schemas.openxmlformats.org/officeDocument/2006/relationships" id="2147483654" r:id="Re0378bff96da4d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ef23750e5ee41d3" /><Relationship Type="http://schemas.openxmlformats.org/officeDocument/2006/relationships/notesSlide" Target="/ppt/notesSlides/notesSlide1.xml" Id="R669c7b79d9d84a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cf7be1216ef40ff" /><Relationship Type="http://schemas.openxmlformats.org/officeDocument/2006/relationships/notesSlide" Target="/ppt/notesSlides/notesSlide2.xml" Id="R89b675db56d944a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CB11551E-EF7C-4A63-A3D4-6536A2EED2BF}"/>
              </a:ext>
            </a:extLst>
          </p:cNvPr>
          <p:cNvSpPr>
            <a:spLocks xmlns:a="http://schemas.openxmlformats.org/drawingml/2006/main" noGrp="1"/>
          </p:cNvSpPr>
          <p:nvPr/>
        </p:nvSpPr>
        <p:spPr>
          <a:xfrm xmlns:a="http://schemas.openxmlformats.org/drawingml/2006/main">
            <a:off x="495300" y="323850"/>
            <a:ext cx="11201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300" b="1">
                <a:solidFill>
                  <a:srgbClr val="172D40"/>
                </a:solidFill>
                <a:latin typeface="Arial"/>
                <a:ea typeface="Arial"/>
                <a:cs typeface="Arial"/>
              </a:defRPr>
            </a:defPPr>
          </a:lstStyle>
          <a:p xmlns:a="http://schemas.openxmlformats.org/drawingml/2006/main">
            <a:pPr>
              <a:defRPr sz="3300" b="1">
                <a:solidFill>
                  <a:srgbClr val="172D40"/>
                </a:solidFill>
                <a:latin typeface="Arial"/>
                <a:ea typeface="Arial"/>
                <a:cs typeface="Arial"/>
              </a:defRPr>
            </a:pPr>
            <a:r>
              <a:rPr sz="3300" b="1">
                <a:solidFill>
                  <a:srgbClr val="172D40"/>
                </a:solidFill>
                <a:latin typeface="Arial"/>
                <a:ea typeface="Arial"/>
                <a:cs typeface="Arial"/>
              </a:rPr>
              <a:t>Fatigue damage spectrum</a:t>
            </a:r>
          </a:p>
        </p:txBody>
      </p:sp>
      <p:sp>
        <p:nvSpPr>
          <p:cNvPr id="2" name="subtitle">
            <a:extLst xmlns:a="http://schemas.openxmlformats.org/drawingml/2006/main">
              <a:ext uri="{FF2B5EF4-FFF2-40B4-BE49-F238E27FC236}">
                <a16:creationId xmlns:a16="http://schemas.microsoft.com/office/drawing/2014/main" id="{15575D53-9E68-4690-856C-5386D479A16A}"/>
              </a:ext>
            </a:extLst>
          </p:cNvPr>
          <p:cNvSpPr>
            <a:spLocks xmlns:a="http://schemas.openxmlformats.org/drawingml/2006/main" noGrp="1"/>
          </p:cNvSpPr>
          <p:nvPr/>
        </p:nvSpPr>
        <p:spPr>
          <a:xfrm xmlns:a="http://schemas.openxmlformats.org/drawingml/2006/main">
            <a:off x="514350" y="952500"/>
            <a:ext cx="11182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506779"/>
                </a:solidFill>
                <a:latin typeface="Arial"/>
                <a:ea typeface="Arial"/>
                <a:cs typeface="Arial"/>
              </a:defRPr>
            </a:defPPr>
          </a:lstStyle>
          <a:p xmlns:a="http://schemas.openxmlformats.org/drawingml/2006/main">
            <a:pPr>
              <a:defRPr sz="1875" b="0">
                <a:solidFill>
                  <a:srgbClr val="506779"/>
                </a:solidFill>
                <a:latin typeface="Arial"/>
                <a:ea typeface="Arial"/>
                <a:cs typeface="Arial"/>
              </a:defRPr>
            </a:pPr>
            <a:r>
              <a:rPr sz="1875" b="0">
                <a:solidFill>
                  <a:srgbClr val="506779"/>
                </a:solidFill>
                <a:latin typeface="Arial"/>
                <a:ea typeface="Arial"/>
                <a:cs typeface="Arial"/>
              </a:rPr>
              <a:t>Common SDOF response, damping Q and fatigue exponent b</a:t>
            </a:r>
          </a:p>
        </p:txBody>
      </p:sp>
      <p:sp>
        <p:nvSpPr>
          <p:cNvPr id="3" name="sine-title">
            <a:extLst xmlns:a="http://schemas.openxmlformats.org/drawingml/2006/main">
              <a:ext uri="{FF2B5EF4-FFF2-40B4-BE49-F238E27FC236}">
                <a16:creationId xmlns:a16="http://schemas.microsoft.com/office/drawing/2014/main" id="{AAFA3387-7FFF-4BD0-BA9A-408E476C6F76}"/>
              </a:ext>
            </a:extLst>
          </p:cNvPr>
          <p:cNvSpPr>
            <a:spLocks xmlns:a="http://schemas.openxmlformats.org/drawingml/2006/main" noGrp="1"/>
          </p:cNvSpPr>
          <p:nvPr/>
        </p:nvSpPr>
        <p:spPr>
          <a:xfrm xmlns:a="http://schemas.openxmlformats.org/drawingml/2006/main">
            <a:off x="514350" y="1628775"/>
            <a:ext cx="516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F83"/>
                </a:solidFill>
                <a:latin typeface="Arial"/>
                <a:ea typeface="Arial"/>
                <a:cs typeface="Arial"/>
              </a:defRPr>
            </a:defPPr>
          </a:lstStyle>
          <a:p xmlns:a="http://schemas.openxmlformats.org/drawingml/2006/main">
            <a:pPr>
              <a:defRPr sz="2250" b="1">
                <a:solidFill>
                  <a:srgbClr val="087F83"/>
                </a:solidFill>
                <a:latin typeface="Arial"/>
                <a:ea typeface="Arial"/>
                <a:cs typeface="Arial"/>
              </a:defRPr>
            </a:pPr>
            <a:r>
              <a:rPr sz="2250" b="1">
                <a:solidFill>
                  <a:srgbClr val="087F83"/>
                </a:solidFill>
                <a:latin typeface="Arial"/>
                <a:ea typeface="Arial"/>
                <a:cs typeface="Arial"/>
              </a:rPr>
              <a:t>Sine dwell</a:t>
            </a:r>
          </a:p>
        </p:txBody>
      </p:sp>
      <p:sp>
        <p:nvSpPr>
          <p:cNvPr id="4" name="random-title">
            <a:extLst xmlns:a="http://schemas.openxmlformats.org/drawingml/2006/main">
              <a:ext uri="{FF2B5EF4-FFF2-40B4-BE49-F238E27FC236}">
                <a16:creationId xmlns:a16="http://schemas.microsoft.com/office/drawing/2014/main" id="{319C9DCE-C0CE-4FFC-9A4A-16DB89AC942F}"/>
              </a:ext>
            </a:extLst>
          </p:cNvPr>
          <p:cNvSpPr>
            <a:spLocks xmlns:a="http://schemas.openxmlformats.org/drawingml/2006/main" noGrp="1"/>
          </p:cNvSpPr>
          <p:nvPr/>
        </p:nvSpPr>
        <p:spPr>
          <a:xfrm xmlns:a="http://schemas.openxmlformats.org/drawingml/2006/main">
            <a:off x="6496050" y="1628775"/>
            <a:ext cx="5181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F83"/>
                </a:solidFill>
                <a:latin typeface="Arial"/>
                <a:ea typeface="Arial"/>
                <a:cs typeface="Arial"/>
              </a:defRPr>
            </a:defPPr>
          </a:lstStyle>
          <a:p xmlns:a="http://schemas.openxmlformats.org/drawingml/2006/main">
            <a:pPr>
              <a:defRPr sz="2250" b="1">
                <a:solidFill>
                  <a:srgbClr val="087F83"/>
                </a:solidFill>
                <a:latin typeface="Arial"/>
                <a:ea typeface="Arial"/>
                <a:cs typeface="Arial"/>
              </a:defRPr>
            </a:pPr>
            <a:r>
              <a:rPr sz="2250" b="1">
                <a:solidFill>
                  <a:srgbClr val="087F83"/>
                </a:solidFill>
                <a:latin typeface="Arial"/>
                <a:ea typeface="Arial"/>
                <a:cs typeface="Arial"/>
              </a:rPr>
              <a:t>Random vibration</a:t>
            </a:r>
          </a:p>
        </p:txBody>
      </p:sp>
      <p:sp>
        <p:nvSpPr>
          <p:cNvPr id="5" name="sine-bullets">
            <a:extLst xmlns:a="http://schemas.openxmlformats.org/drawingml/2006/main">
              <a:ext uri="{FF2B5EF4-FFF2-40B4-BE49-F238E27FC236}">
                <a16:creationId xmlns:a16="http://schemas.microsoft.com/office/drawing/2014/main" id="{FB4A66F8-4A5F-4C92-B723-366621AFFCD1}"/>
              </a:ext>
            </a:extLst>
          </p:cNvPr>
          <p:cNvSpPr>
            <a:spLocks xmlns:a="http://schemas.openxmlformats.org/drawingml/2006/main" noGrp="1"/>
          </p:cNvSpPr>
          <p:nvPr/>
        </p:nvSpPr>
        <p:spPr>
          <a:xfrm xmlns:a="http://schemas.openxmlformats.org/drawingml/2006/main">
            <a:off x="514350" y="2152650"/>
            <a:ext cx="5162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172D40"/>
                </a:solidFill>
                <a:latin typeface="Arial"/>
                <a:ea typeface="Arial"/>
                <a:cs typeface="Arial"/>
              </a:defRPr>
            </a:defPPr>
          </a:lstStyle>
          <a:p xmlns:a="http://schemas.openxmlformats.org/drawingml/2006/main">
            <a:pPr marL="190500" indent="-101600">
              <a:spcAft>
                <a:spcPts val="1000"/>
              </a:spcAft>
              <a:buChar char="•"/>
              <a:defRPr sz="1875" b="0">
                <a:solidFill>
                  <a:srgbClr val="172D40"/>
                </a:solidFill>
                <a:latin typeface="Arial"/>
                <a:ea typeface="Arial"/>
                <a:cs typeface="Arial"/>
              </a:defRPr>
            </a:pPr>
            <a:r>
              <a:t>Find response amplitude and cycle count.</a:t>
            </a:r>
          </a:p>
          <a:p xmlns:a="http://schemas.openxmlformats.org/drawingml/2006/main">
            <a:pPr marL="190500" indent="-101600">
              <a:spcAft>
                <a:spcPts val="1000"/>
              </a:spcAft>
              <a:buChar char="•"/>
              <a:defRPr sz="1875" b="0">
                <a:solidFill>
                  <a:srgbClr val="172D40"/>
                </a:solidFill>
                <a:latin typeface="Arial"/>
                <a:ea typeface="Arial"/>
                <a:cs typeface="Arial"/>
              </a:defRPr>
            </a:pPr>
            <a:r>
              <a:t>Apply the fatigue power law to each dwell.</a:t>
            </a:r>
          </a:p>
        </p:txBody>
      </p:sp>
      <p:sp>
        <p:nvSpPr>
          <p:cNvPr id="6" name="random-bullets">
            <a:extLst xmlns:a="http://schemas.openxmlformats.org/drawingml/2006/main">
              <a:ext uri="{FF2B5EF4-FFF2-40B4-BE49-F238E27FC236}">
                <a16:creationId xmlns:a16="http://schemas.microsoft.com/office/drawing/2014/main" id="{AA1514E4-3239-4A30-B36C-C950E83D012C}"/>
              </a:ext>
            </a:extLst>
          </p:cNvPr>
          <p:cNvSpPr>
            <a:spLocks xmlns:a="http://schemas.openxmlformats.org/drawingml/2006/main" noGrp="1"/>
          </p:cNvSpPr>
          <p:nvPr/>
        </p:nvSpPr>
        <p:spPr>
          <a:xfrm xmlns:a="http://schemas.openxmlformats.org/drawingml/2006/main">
            <a:off x="6496050" y="2152650"/>
            <a:ext cx="5181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172D40"/>
                </a:solidFill>
                <a:latin typeface="Arial"/>
                <a:ea typeface="Arial"/>
                <a:cs typeface="Arial"/>
              </a:defRPr>
            </a:defPPr>
          </a:lstStyle>
          <a:p xmlns:a="http://schemas.openxmlformats.org/drawingml/2006/main">
            <a:pPr marL="190500" indent="-101600">
              <a:spcAft>
                <a:spcPts val="1000"/>
              </a:spcAft>
              <a:buChar char="•"/>
              <a:defRPr sz="1875" b="0">
                <a:solidFill>
                  <a:srgbClr val="172D40"/>
                </a:solidFill>
                <a:latin typeface="Arial"/>
                <a:ea typeface="Arial"/>
                <a:cs typeface="Arial"/>
              </a:defRPr>
            </a:pPr>
            <a:r>
              <a:t>Filter the PSD through each oscillator.</a:t>
            </a:r>
          </a:p>
          <a:p xmlns:a="http://schemas.openxmlformats.org/drawingml/2006/main">
            <a:pPr marL="190500" indent="-101600">
              <a:spcAft>
                <a:spcPts val="1000"/>
              </a:spcAft>
              <a:buChar char="•"/>
              <a:defRPr sz="1875" b="0">
                <a:solidFill>
                  <a:srgbClr val="172D40"/>
                </a:solidFill>
                <a:latin typeface="Arial"/>
                <a:ea typeface="Arial"/>
                <a:cs typeface="Arial"/>
              </a:defRPr>
            </a:pPr>
            <a:r>
              <a:t>Use Dirlik cycle statistics over total exposure.</a:t>
            </a:r>
          </a:p>
        </p:txBody>
      </p:sp>
      <p:sp>
        <p:nvSpPr>
          <p:cNvPr id="7" name="EQ_SINE_RESPONSE">
            <a:extLst xmlns:a="http://schemas.openxmlformats.org/drawingml/2006/main">
              <a:ext uri="{FF2B5EF4-FFF2-40B4-BE49-F238E27FC236}">
                <a16:creationId xmlns:a16="http://schemas.microsoft.com/office/drawing/2014/main" id="{3544747B-0BD3-446A-881D-48B0B7BA660E}"/>
              </a:ext>
            </a:extLst>
          </p:cNvPr>
          <p:cNvSpPr>
            <a:spLocks xmlns:a="http://schemas.openxmlformats.org/drawingml/2006/main" noGrp="1"/>
          </p:cNvSpPr>
          <p:nvPr/>
        </p:nvSpPr>
        <p:spPr>
          <a:xfrm xmlns:a="http://schemas.openxmlformats.org/drawingml/2006/main">
            <a:off x="514350" y="3190875"/>
            <a:ext cx="5181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172D40"/>
                </a:solidFill>
                <a:latin typeface="Arial"/>
                <a:ea typeface="Arial"/>
                <a:cs typeface="Arial"/>
              </a:defRPr>
            </a:defPPr>
          </a:lstStyle>
          <a:p xmlns:a="http://schemas.openxmlformats.org/drawingml/2006/main">
            <a:pPr algn="l">
              <a:defRPr sz="2175">
                <a:latin typeface="Cambria Math"/>
              </a:defRPr>
            </a:pPr>
            <a14:m xmlns:a14="http://schemas.microsoft.com/office/drawing/2010/main">
              <m:oMathPara xmlns:m="http://schemas.openxmlformats.org/officeDocument/2006/math">
                <m:oMathParaPr>
                  <m:jc m:val="left"/>
                </m:oMathParaPr>
                <m:oMath>
                  <m:sSub>
                    <m:e>
                      <m:r>
                        <m:rPr>
                          <m:sty m:val="p"/>
                        </m:rPr>
                        <a:rPr sz="2175" lang="en-US">
                          <a:solidFill>
                            <a:srgbClr val="172D40"/>
                          </a:solidFill>
                          <a:latin typeface="Cambria Math"/>
                        </a:rPr>
                        <m:t>A</m:t>
                      </m:r>
                    </m:e>
                    <m:sub>
                      <m:r>
                        <m:rPr>
                          <m:sty m:val="p"/>
                        </m:rPr>
                        <a:rPr sz="2175" lang="en-US">
                          <a:solidFill>
                            <a:srgbClr val="172D40"/>
                          </a:solidFill>
                          <a:latin typeface="Cambria Math"/>
                        </a:rPr>
                        <m:t>i</m:t>
                      </m:r>
                    </m:sub>
                  </m:sSub>
                  <m:r>
                    <m:rPr>
                      <m:sty m:val="p"/>
                    </m:rPr>
                    <a:rPr sz="2175" lang="en-US">
                      <a:solidFill>
                        <a:srgbClr val="172D40"/>
                      </a:solidFill>
                      <a:latin typeface="Cambria Math"/>
                    </a:rPr>
                    <m:t> = </m:t>
                  </m:r>
                  <m:d>
                    <m:dPr>
                      <m:begChr m:val="|"/>
                      <m:endChr m:val="|"/>
                    </m:dPr>
                    <m:e>
                      <m:r>
                        <m:rPr>
                          <m:sty m:val="p"/>
                        </m:rPr>
                        <a:rPr sz="2175" lang="en-US">
                          <a:solidFill>
                            <a:srgbClr val="172D40"/>
                          </a:solidFill>
                          <a:latin typeface="Cambria Math"/>
                        </a:rPr>
                        <m:t>H</m:t>
                      </m:r>
                      <m:d>
                        <m:dPr>
                          <m:begChr m:val="("/>
                          <m:endChr m:val=")"/>
                        </m:dPr>
                        <m:e>
                          <m:sSub>
                            <m:e>
                              <m:r>
                                <m:rPr>
                                  <m:sty m:val="p"/>
                                </m:rPr>
                                <a:rPr sz="2175" lang="en-US">
                                  <a:solidFill>
                                    <a:srgbClr val="172D40"/>
                                  </a:solidFill>
                                  <a:latin typeface="Cambria Math"/>
                                </a:rPr>
                                <m:t>f</m:t>
                              </m:r>
                            </m:e>
                            <m:sub>
                              <m:r>
                                <m:rPr>
                                  <m:sty m:val="p"/>
                                </m:rPr>
                                <a:rPr sz="2175" lang="en-US">
                                  <a:solidFill>
                                    <a:srgbClr val="172D40"/>
                                  </a:solidFill>
                                  <a:latin typeface="Cambria Math"/>
                                </a:rPr>
                                <m:t>d,i</m:t>
                              </m:r>
                            </m:sub>
                          </m:sSub>
                          <m:r>
                            <m:rPr>
                              <m:sty m:val="p"/>
                            </m:rPr>
                            <a:rPr sz="2175" lang="en-US">
                              <a:solidFill>
                                <a:srgbClr val="172D40"/>
                              </a:solidFill>
                              <a:latin typeface="Cambria Math"/>
                            </a:rPr>
                            <m:t>, </m:t>
                          </m:r>
                          <m:sSub>
                            <m:e>
                              <m:r>
                                <m:rPr>
                                  <m:sty m:val="p"/>
                                </m:rPr>
                                <a:rPr sz="2175" lang="en-US">
                                  <a:solidFill>
                                    <a:srgbClr val="172D40"/>
                                  </a:solidFill>
                                  <a:latin typeface="Cambria Math"/>
                                </a:rPr>
                                <m:t>f</m:t>
                              </m:r>
                            </m:e>
                            <m:sub>
                              <m:r>
                                <m:rPr>
                                  <m:sty m:val="p"/>
                                </m:rPr>
                                <a:rPr sz="2175" lang="en-US">
                                  <a:solidFill>
                                    <a:srgbClr val="172D40"/>
                                  </a:solidFill>
                                  <a:latin typeface="Cambria Math"/>
                                </a:rPr>
                                <m:t>n</m:t>
                              </m:r>
                            </m:sub>
                          </m:sSub>
                        </m:e>
                      </m:d>
                    </m:e>
                  </m:d>
                  <m:sSub>
                    <m:e>
                      <m:r>
                        <m:rPr>
                          <m:sty m:val="p"/>
                        </m:rPr>
                        <a:rPr sz="2175" lang="en-US">
                          <a:solidFill>
                            <a:srgbClr val="172D40"/>
                          </a:solidFill>
                          <a:latin typeface="Cambria Math"/>
                        </a:rPr>
                        <m:t>a</m:t>
                      </m:r>
                    </m:e>
                    <m:sub>
                      <m:r>
                        <m:rPr>
                          <m:sty m:val="p"/>
                        </m:rPr>
                        <a:rPr sz="2175" lang="en-US">
                          <a:solidFill>
                            <a:srgbClr val="172D40"/>
                          </a:solidFill>
                          <a:latin typeface="Cambria Math"/>
                        </a:rPr>
                        <m:t>g,i</m:t>
                      </m:r>
                    </m:sub>
                  </m:sSub>
                </m:oMath>
              </m:oMathPara>
            </a14:m>
            <a:endParaRPr sz="2175"/>
          </a:p>
        </p:txBody>
      </p:sp>
      <p:sp>
        <p:nvSpPr>
          <p:cNvPr id="8" name="EQ_CYCLES">
            <a:extLst xmlns:a="http://schemas.openxmlformats.org/drawingml/2006/main">
              <a:ext uri="{FF2B5EF4-FFF2-40B4-BE49-F238E27FC236}">
                <a16:creationId xmlns:a16="http://schemas.microsoft.com/office/drawing/2014/main" id="{2D33401D-7E83-4E3F-BBAA-BDFD816CBB46}"/>
              </a:ext>
            </a:extLst>
          </p:cNvPr>
          <p:cNvSpPr>
            <a:spLocks xmlns:a="http://schemas.openxmlformats.org/drawingml/2006/main" noGrp="1"/>
          </p:cNvSpPr>
          <p:nvPr/>
        </p:nvSpPr>
        <p:spPr>
          <a:xfrm xmlns:a="http://schemas.openxmlformats.org/drawingml/2006/main">
            <a:off x="514350" y="3762375"/>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172D40"/>
                </a:solidFill>
                <a:latin typeface="Arial"/>
                <a:ea typeface="Arial"/>
                <a:cs typeface="Arial"/>
              </a:defRPr>
            </a:defPPr>
          </a:lstStyle>
          <a:p xmlns:a="http://schemas.openxmlformats.org/drawingml/2006/main">
            <a:pPr algn="l">
              <a:defRPr sz="2175">
                <a:latin typeface="Cambria Math"/>
              </a:defRPr>
            </a:pPr>
            <a14:m xmlns:a14="http://schemas.microsoft.com/office/drawing/2010/main">
              <m:oMathPara xmlns:m="http://schemas.openxmlformats.org/officeDocument/2006/math">
                <m:oMathParaPr>
                  <m:jc m:val="left"/>
                </m:oMathParaPr>
                <m:oMath>
                  <m:sSub>
                    <m:e>
                      <m:r>
                        <m:rPr>
                          <m:sty m:val="p"/>
                        </m:rPr>
                        <a:rPr sz="2175" lang="en-US">
                          <a:solidFill>
                            <a:srgbClr val="172D40"/>
                          </a:solidFill>
                          <a:latin typeface="Cambria Math"/>
                        </a:rPr>
                        <m:t>N</m:t>
                      </m:r>
                    </m:e>
                    <m:sub>
                      <m:r>
                        <m:rPr>
                          <m:sty m:val="p"/>
                        </m:rPr>
                        <a:rPr sz="2175" lang="en-US">
                          <a:solidFill>
                            <a:srgbClr val="172D40"/>
                          </a:solidFill>
                          <a:latin typeface="Cambria Math"/>
                        </a:rPr>
                        <m:t>i</m:t>
                      </m:r>
                    </m:sub>
                  </m:sSub>
                  <m:r>
                    <m:rPr>
                      <m:sty m:val="p"/>
                    </m:rPr>
                    <a:rPr sz="2175" lang="en-US">
                      <a:solidFill>
                        <a:srgbClr val="172D40"/>
                      </a:solidFill>
                      <a:latin typeface="Cambria Math"/>
                    </a:rPr>
                    <m:t> = </m:t>
                  </m:r>
                  <m:sSub>
                    <m:e>
                      <m:r>
                        <m:rPr>
                          <m:sty m:val="p"/>
                        </m:rPr>
                        <a:rPr sz="2175" lang="en-US">
                          <a:solidFill>
                            <a:srgbClr val="172D40"/>
                          </a:solidFill>
                          <a:latin typeface="Cambria Math"/>
                        </a:rPr>
                        <m:t>r</m:t>
                      </m:r>
                    </m:e>
                    <m:sub>
                      <m:r>
                        <m:rPr>
                          <m:sty m:val="p"/>
                        </m:rPr>
                        <a:rPr sz="2175" lang="en-US">
                          <a:solidFill>
                            <a:srgbClr val="172D40"/>
                          </a:solidFill>
                          <a:latin typeface="Cambria Math"/>
                        </a:rPr>
                        <m:t>i</m:t>
                      </m:r>
                    </m:sub>
                  </m:sSub>
                  <m:r>
                    <m:rPr>
                      <m:sty m:val="p"/>
                    </m:rPr>
                    <a:rPr sz="2175" lang="en-US">
                      <a:solidFill>
                        <a:srgbClr val="172D40"/>
                      </a:solidFill>
                      <a:latin typeface="Cambria Math"/>
                    </a:rPr>
                    <m:t> </m:t>
                  </m:r>
                  <m:sSub>
                    <m:e>
                      <m:r>
                        <m:rPr>
                          <m:sty m:val="p"/>
                        </m:rPr>
                        <a:rPr sz="2175" lang="en-US">
                          <a:solidFill>
                            <a:srgbClr val="172D40"/>
                          </a:solidFill>
                          <a:latin typeface="Cambria Math"/>
                        </a:rPr>
                        <m:t>f</m:t>
                      </m:r>
                    </m:e>
                    <m:sub>
                      <m:r>
                        <m:rPr>
                          <m:sty m:val="p"/>
                        </m:rPr>
                        <a:rPr sz="2175" lang="en-US">
                          <a:solidFill>
                            <a:srgbClr val="172D40"/>
                          </a:solidFill>
                          <a:latin typeface="Cambria Math"/>
                        </a:rPr>
                        <m:t>d,i</m:t>
                      </m:r>
                    </m:sub>
                  </m:sSub>
                  <m:r>
                    <m:rPr>
                      <m:sty m:val="p"/>
                    </m:rPr>
                    <a:rPr sz="2175" lang="en-US">
                      <a:solidFill>
                        <a:srgbClr val="172D40"/>
                      </a:solidFill>
                      <a:latin typeface="Cambria Math"/>
                    </a:rPr>
                    <m:t> </m:t>
                  </m:r>
                  <m:sSub>
                    <m:e>
                      <m:r>
                        <m:rPr>
                          <m:sty m:val="p"/>
                        </m:rPr>
                        <a:rPr sz="2175" lang="en-US">
                          <a:solidFill>
                            <a:srgbClr val="172D40"/>
                          </a:solidFill>
                          <a:latin typeface="Cambria Math"/>
                        </a:rPr>
                        <m:t>t</m:t>
                      </m:r>
                    </m:e>
                    <m:sub>
                      <m:r>
                        <m:rPr>
                          <m:sty m:val="p"/>
                        </m:rPr>
                        <a:rPr sz="2175" lang="en-US">
                          <a:solidFill>
                            <a:srgbClr val="172D40"/>
                          </a:solidFill>
                          <a:latin typeface="Cambria Math"/>
                        </a:rPr>
                        <m:t>i</m:t>
                      </m:r>
                    </m:sub>
                  </m:sSub>
                </m:oMath>
              </m:oMathPara>
            </a14:m>
            <a:endParaRPr sz="2175"/>
          </a:p>
        </p:txBody>
      </p:sp>
      <p:sp>
        <p:nvSpPr>
          <p:cNvPr id="9" name="EQ_SINE_DAMAGE">
            <a:extLst xmlns:a="http://schemas.openxmlformats.org/drawingml/2006/main">
              <a:ext uri="{FF2B5EF4-FFF2-40B4-BE49-F238E27FC236}">
                <a16:creationId xmlns:a16="http://schemas.microsoft.com/office/drawing/2014/main" id="{EA9C6DBC-7653-458D-8B34-A877B287E70C}"/>
              </a:ext>
            </a:extLst>
          </p:cNvPr>
          <p:cNvSpPr>
            <a:spLocks xmlns:a="http://schemas.openxmlformats.org/drawingml/2006/main" noGrp="1"/>
          </p:cNvSpPr>
          <p:nvPr/>
        </p:nvSpPr>
        <p:spPr>
          <a:xfrm xmlns:a="http://schemas.openxmlformats.org/drawingml/2006/main">
            <a:off x="514350" y="4286250"/>
            <a:ext cx="5286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72D40"/>
                </a:solidFill>
                <a:latin typeface="Arial"/>
                <a:ea typeface="Arial"/>
                <a:cs typeface="Arial"/>
              </a:defRPr>
            </a:defPPr>
          </a:lstStyle>
          <a:p xmlns:a="http://schemas.openxmlformats.org/drawingml/2006/main">
            <a:pPr algn="l">
              <a:defRPr sz="2325">
                <a:latin typeface="Cambria Math"/>
              </a:defRPr>
            </a:pPr>
            <a14:m xmlns:a14="http://schemas.microsoft.com/office/drawing/2010/main">
              <m:oMathPara xmlns:m="http://schemas.openxmlformats.org/officeDocument/2006/math">
                <m:oMathParaPr>
                  <m:jc m:val="left"/>
                </m:oMathParaPr>
                <m:oMath>
                  <m:sSub>
                    <m:e>
                      <m:r>
                        <m:rPr>
                          <m:sty m:val="p"/>
                        </m:rPr>
                        <a:rPr sz="2325" lang="en-US">
                          <a:solidFill>
                            <a:srgbClr val="172D40"/>
                          </a:solidFill>
                          <a:latin typeface="Cambria Math"/>
                        </a:rPr>
                        <m:t>D</m:t>
                      </m:r>
                    </m:e>
                    <m:sub>
                      <m:r>
                        <m:rPr>
                          <m:sty m:val="p"/>
                        </m:rPr>
                        <a:rPr sz="2325" lang="en-US">
                          <a:solidFill>
                            <a:srgbClr val="172D40"/>
                          </a:solidFill>
                          <a:latin typeface="Cambria Math"/>
                        </a:rPr>
                        <m:t>s</m:t>
                      </m:r>
                    </m:sub>
                  </m:sSub>
                  <m:d>
                    <m:dPr>
                      <m:begChr m:val="("/>
                      <m:endChr m:val=")"/>
                    </m:dPr>
                    <m:e>
                      <m:sSub>
                        <m:e>
                          <m:r>
                            <m:rPr>
                              <m:sty m:val="p"/>
                            </m:rPr>
                            <a:rPr sz="2325" lang="en-US">
                              <a:solidFill>
                                <a:srgbClr val="172D40"/>
                              </a:solidFill>
                              <a:latin typeface="Cambria Math"/>
                            </a:rPr>
                            <m:t>f</m:t>
                          </m:r>
                        </m:e>
                        <m:sub>
                          <m:r>
                            <m:rPr>
                              <m:sty m:val="p"/>
                            </m:rPr>
                            <a:rPr sz="2325" lang="en-US">
                              <a:solidFill>
                                <a:srgbClr val="172D40"/>
                              </a:solidFill>
                              <a:latin typeface="Cambria Math"/>
                            </a:rPr>
                            <m:t>n</m:t>
                          </m:r>
                        </m:sub>
                      </m:sSub>
                    </m:e>
                  </m:d>
                  <m:r>
                    <m:rPr>
                      <m:sty m:val="p"/>
                    </m:rPr>
                    <a:rPr sz="2325" lang="en-US">
                      <a:solidFill>
                        <a:srgbClr val="172D40"/>
                      </a:solidFill>
                      <a:latin typeface="Cambria Math"/>
                    </a:rPr>
                    <m:t> = </m:t>
                  </m:r>
                  <m:nary>
                    <m:naryPr>
                      <m:chr m:val="∑"/>
                      <m:limLoc m:val="subSup"/>
                      <m:grow m:val="0"/>
                      <m:supHide m:val="1"/>
                    </m:naryPr>
                    <m:sub>
                      <m:r>
                        <m:rPr>
                          <m:sty m:val="p"/>
                        </m:rPr>
                        <a:rPr sz="2325" lang="en-US">
                          <a:solidFill>
                            <a:srgbClr val="172D40"/>
                          </a:solidFill>
                          <a:latin typeface="Cambria Math"/>
                        </a:rPr>
                        <m:t>i</m:t>
                      </m:r>
                    </m:sub>
                    <m:sup>
                      <m:r>
                        <m:rPr>
                          <m:sty m:val="p"/>
                        </m:rPr>
                        <a:rPr sz="2325" lang="en-US">
                          <a:solidFill>
                            <a:srgbClr val="172D40"/>
                          </a:solidFill>
                          <a:latin typeface="Cambria Math"/>
                        </a:rPr>
                        <m:t/>
                      </m:r>
                    </m:sup>
                    <m:e>
                      <m:sSub>
                        <m:e>
                          <m:r>
                            <m:rPr>
                              <m:sty m:val="p"/>
                            </m:rPr>
                            <a:rPr sz="2325" lang="en-US">
                              <a:solidFill>
                                <a:srgbClr val="172D40"/>
                              </a:solidFill>
                              <a:latin typeface="Cambria Math"/>
                            </a:rPr>
                            <m:t>N</m:t>
                          </m:r>
                        </m:e>
                        <m:sub>
                          <m:r>
                            <m:rPr>
                              <m:sty m:val="p"/>
                            </m:rPr>
                            <a:rPr sz="2325" lang="en-US">
                              <a:solidFill>
                                <a:srgbClr val="172D40"/>
                              </a:solidFill>
                              <a:latin typeface="Cambria Math"/>
                            </a:rPr>
                            <m:t>i</m:t>
                          </m:r>
                        </m:sub>
                      </m:sSub>
                      <m:r>
                        <m:rPr>
                          <m:sty m:val="p"/>
                        </m:rPr>
                        <a:rPr sz="2325" lang="en-US">
                          <a:solidFill>
                            <a:srgbClr val="172D40"/>
                          </a:solidFill>
                          <a:latin typeface="Cambria Math"/>
                        </a:rPr>
                        <m:t> </m:t>
                      </m:r>
                      <m:sSup>
                        <m:e>
                          <m:d>
                            <m:dPr>
                              <m:begChr m:val="("/>
                              <m:endChr m:val=")"/>
                            </m:dPr>
                            <m:e>
                              <m:f>
                                <m:num>
                                  <m:sSub>
                                    <m:e>
                                      <m:r>
                                        <m:rPr>
                                          <m:sty m:val="p"/>
                                        </m:rPr>
                                        <a:rPr sz="2325" lang="en-US">
                                          <a:solidFill>
                                            <a:srgbClr val="172D40"/>
                                          </a:solidFill>
                                          <a:latin typeface="Cambria Math"/>
                                        </a:rPr>
                                        <m:t>A</m:t>
                                      </m:r>
                                    </m:e>
                                    <m:sub>
                                      <m:r>
                                        <m:rPr>
                                          <m:sty m:val="p"/>
                                        </m:rPr>
                                        <a:rPr sz="2325" lang="en-US">
                                          <a:solidFill>
                                            <a:srgbClr val="172D40"/>
                                          </a:solidFill>
                                          <a:latin typeface="Cambria Math"/>
                                        </a:rPr>
                                        <m:t>i</m:t>
                                      </m:r>
                                    </m:sub>
                                  </m:sSub>
                                </m:num>
                                <m:den>
                                  <m:sSub>
                                    <m:e>
                                      <m:r>
                                        <m:rPr>
                                          <m:sty m:val="p"/>
                                        </m:rPr>
                                        <a:rPr sz="2325" lang="en-US">
                                          <a:solidFill>
                                            <a:srgbClr val="172D40"/>
                                          </a:solidFill>
                                          <a:latin typeface="Cambria Math"/>
                                        </a:rPr>
                                        <m:t>z</m:t>
                                      </m:r>
                                    </m:e>
                                    <m:sub>
                                      <m:r>
                                        <m:rPr>
                                          <m:sty m:val="p"/>
                                        </m:rPr>
                                        <a:rPr sz="2325" lang="en-US">
                                          <a:solidFill>
                                            <a:srgbClr val="172D40"/>
                                          </a:solidFill>
                                          <a:latin typeface="Cambria Math"/>
                                        </a:rPr>
                                        <m:t>ref</m:t>
                                      </m:r>
                                    </m:sub>
                                  </m:sSub>
                                </m:den>
                              </m:f>
                            </m:e>
                          </m:d>
                        </m:e>
                        <m:sup>
                          <m:r>
                            <m:rPr>
                              <m:sty m:val="p"/>
                            </m:rPr>
                            <a:rPr sz="2325" lang="en-US">
                              <a:solidFill>
                                <a:srgbClr val="172D40"/>
                              </a:solidFill>
                              <a:latin typeface="Cambria Math"/>
                            </a:rPr>
                            <m:t>b</m:t>
                          </m:r>
                        </m:sup>
                      </m:sSup>
                    </m:e>
                  </m:nary>
                </m:oMath>
              </m:oMathPara>
            </a14:m>
            <a:endParaRPr sz="2325"/>
          </a:p>
        </p:txBody>
      </p:sp>
      <p:sp>
        <p:nvSpPr>
          <p:cNvPr id="10" name="EQ_RESPONSE_PSD">
            <a:extLst xmlns:a="http://schemas.openxmlformats.org/drawingml/2006/main">
              <a:ext uri="{FF2B5EF4-FFF2-40B4-BE49-F238E27FC236}">
                <a16:creationId xmlns:a16="http://schemas.microsoft.com/office/drawing/2014/main" id="{2E383057-5B4E-4DE4-A0D5-7FEBB735219B}"/>
              </a:ext>
            </a:extLst>
          </p:cNvPr>
          <p:cNvSpPr>
            <a:spLocks xmlns:a="http://schemas.openxmlformats.org/drawingml/2006/main" noGrp="1"/>
          </p:cNvSpPr>
          <p:nvPr/>
        </p:nvSpPr>
        <p:spPr>
          <a:xfrm xmlns:a="http://schemas.openxmlformats.org/drawingml/2006/main">
            <a:off x="6496050" y="3190875"/>
            <a:ext cx="5181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172D40"/>
                </a:solidFill>
                <a:latin typeface="Arial"/>
                <a:ea typeface="Arial"/>
                <a:cs typeface="Arial"/>
              </a:defRPr>
            </a:defPPr>
          </a:lstStyle>
          <a:p xmlns:a="http://schemas.openxmlformats.org/drawingml/2006/main">
            <a:pPr algn="l">
              <a:defRPr sz="2175">
                <a:latin typeface="Cambria Math"/>
              </a:defRPr>
            </a:pPr>
            <a14:m xmlns:a14="http://schemas.microsoft.com/office/drawing/2010/main">
              <m:oMathPara xmlns:m="http://schemas.openxmlformats.org/officeDocument/2006/math">
                <m:oMathParaPr>
                  <m:jc m:val="left"/>
                </m:oMathParaPr>
                <m:oMath>
                  <m:sSub>
                    <m:e>
                      <m:r>
                        <m:rPr>
                          <m:sty m:val="p"/>
                        </m:rPr>
                        <a:rPr sz="2175" lang="en-US">
                          <a:solidFill>
                            <a:srgbClr val="172D40"/>
                          </a:solidFill>
                          <a:latin typeface="Cambria Math"/>
                        </a:rPr>
                        <m:t>G</m:t>
                      </m:r>
                    </m:e>
                    <m:sub>
                      <m:r>
                        <m:rPr>
                          <m:sty m:val="p"/>
                        </m:rPr>
                        <a:rPr sz="2175" lang="en-US">
                          <a:solidFill>
                            <a:srgbClr val="172D40"/>
                          </a:solidFill>
                          <a:latin typeface="Cambria Math"/>
                        </a:rPr>
                        <m:t>z</m:t>
                      </m:r>
                    </m:sub>
                  </m:sSub>
                  <m:r>
                    <m:rPr>
                      <m:sty m:val="p"/>
                    </m:rPr>
                    <a:rPr sz="2175" lang="en-US">
                      <a:solidFill>
                        <a:srgbClr val="172D40"/>
                      </a:solidFill>
                      <a:latin typeface="Cambria Math"/>
                    </a:rPr>
                    <m:t> = </m:t>
                  </m:r>
                  <m:sSup>
                    <m:e>
                      <m:d>
                        <m:dPr>
                          <m:begChr m:val="|"/>
                          <m:endChr m:val="|"/>
                        </m:dPr>
                        <m:e>
                          <m:r>
                            <m:rPr>
                              <m:sty m:val="p"/>
                            </m:rPr>
                            <a:rPr sz="2175" lang="en-US">
                              <a:solidFill>
                                <a:srgbClr val="172D40"/>
                              </a:solidFill>
                              <a:latin typeface="Cambria Math"/>
                            </a:rPr>
                            <m:t>H</m:t>
                          </m:r>
                        </m:e>
                      </m:d>
                    </m:e>
                    <m:sup>
                      <m:r>
                        <m:rPr>
                          <m:sty m:val="p"/>
                        </m:rPr>
                        <a:rPr sz="2175" lang="en-US">
                          <a:solidFill>
                            <a:srgbClr val="172D40"/>
                          </a:solidFill>
                          <a:latin typeface="Cambria Math"/>
                        </a:rPr>
                        <m:t>2</m:t>
                      </m:r>
                    </m:sup>
                  </m:sSup>
                  <m:r>
                    <m:rPr>
                      <m:sty m:val="p"/>
                    </m:rPr>
                    <a:rPr sz="2175" lang="en-US">
                      <a:solidFill>
                        <a:srgbClr val="172D40"/>
                      </a:solidFill>
                      <a:latin typeface="Cambria Math"/>
                    </a:rPr>
                    <m:t> </m:t>
                  </m:r>
                  <m:sSub>
                    <m:e>
                      <m:r>
                        <m:rPr>
                          <m:sty m:val="p"/>
                        </m:rPr>
                        <a:rPr sz="2175" lang="en-US">
                          <a:solidFill>
                            <a:srgbClr val="172D40"/>
                          </a:solidFill>
                          <a:latin typeface="Cambria Math"/>
                        </a:rPr>
                        <m:t>G</m:t>
                      </m:r>
                    </m:e>
                    <m:sub>
                      <m:r>
                        <m:rPr>
                          <m:sty m:val="p"/>
                        </m:rPr>
                        <a:rPr sz="2175" lang="en-US">
                          <a:solidFill>
                            <a:srgbClr val="172D40"/>
                          </a:solidFill>
                          <a:latin typeface="Cambria Math"/>
                        </a:rPr>
                        <m:t>a</m:t>
                      </m:r>
                    </m:sub>
                  </m:sSub>
                </m:oMath>
              </m:oMathPara>
            </a14:m>
            <a:endParaRPr sz="2175"/>
          </a:p>
        </p:txBody>
      </p:sp>
      <p:sp>
        <p:nvSpPr>
          <p:cNvPr id="11" name="EQ_MOMENTS_RATE">
            <a:extLst xmlns:a="http://schemas.openxmlformats.org/drawingml/2006/main">
              <a:ext uri="{FF2B5EF4-FFF2-40B4-BE49-F238E27FC236}">
                <a16:creationId xmlns:a16="http://schemas.microsoft.com/office/drawing/2014/main" id="{39F7CFE4-30EB-41C6-9ADC-462DAAD0248A}"/>
              </a:ext>
            </a:extLst>
          </p:cNvPr>
          <p:cNvSpPr>
            <a:spLocks xmlns:a="http://schemas.openxmlformats.org/drawingml/2006/main" noGrp="1"/>
          </p:cNvSpPr>
          <p:nvPr/>
        </p:nvSpPr>
        <p:spPr>
          <a:xfrm xmlns:a="http://schemas.openxmlformats.org/drawingml/2006/main">
            <a:off x="6496050" y="3762375"/>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172D40"/>
                </a:solidFill>
                <a:latin typeface="Arial"/>
                <a:ea typeface="Arial"/>
                <a:cs typeface="Arial"/>
              </a:defRPr>
            </a:defPPr>
          </a:lstStyle>
          <a:p xmlns:a="http://schemas.openxmlformats.org/drawingml/2006/main">
            <a:pPr algn="l">
              <a:defRPr sz="2175">
                <a:latin typeface="Cambria Math"/>
              </a:defRPr>
            </a:pPr>
            <a14:m xmlns:a14="http://schemas.microsoft.com/office/drawing/2010/main">
              <m:oMathPara xmlns:m="http://schemas.openxmlformats.org/officeDocument/2006/math">
                <m:oMathParaPr>
                  <m:jc m:val="left"/>
                </m:oMathParaPr>
                <m:oMath>
                  <m:r>
                    <m:rPr>
                      <m:sty m:val="p"/>
                    </m:rPr>
                    <a:rPr sz="2175" lang="en-US">
                      <a:solidFill>
                        <a:srgbClr val="172D40"/>
                      </a:solidFill>
                      <a:latin typeface="Cambria Math"/>
                    </a:rPr>
                    <m:t>σ = </m:t>
                  </m:r>
                  <m:rad>
                    <m:radPr>
                      <m:degHide m:val="1"/>
                    </m:radPr>
                    <m:deg/>
                    <m:e>
                      <m:sSub>
                        <m:e>
                          <m:r>
                            <m:rPr>
                              <m:sty m:val="p"/>
                            </m:rPr>
                            <a:rPr sz="2175" lang="en-US">
                              <a:solidFill>
                                <a:srgbClr val="172D40"/>
                              </a:solidFill>
                              <a:latin typeface="Cambria Math"/>
                            </a:rPr>
                            <m:t>m</m:t>
                          </m:r>
                        </m:e>
                        <m:sub>
                          <m:r>
                            <m:rPr>
                              <m:sty m:val="p"/>
                            </m:rPr>
                            <a:rPr sz="2175" lang="en-US">
                              <a:solidFill>
                                <a:srgbClr val="172D40"/>
                              </a:solidFill>
                              <a:latin typeface="Cambria Math"/>
                            </a:rPr>
                            <m:t>0</m:t>
                          </m:r>
                        </m:sub>
                      </m:sSub>
                    </m:e>
                  </m:rad>
                  <m:r>
                    <m:rPr>
                      <m:sty m:val="p"/>
                    </m:rPr>
                    <a:rPr sz="2175" lang="en-US">
                      <a:solidFill>
                        <a:srgbClr val="172D40"/>
                      </a:solidFill>
                      <a:latin typeface="Cambria Math"/>
                    </a:rPr>
                    <m:t>,    </m:t>
                  </m:r>
                  <m:sSub>
                    <m:e>
                      <m:r>
                        <m:rPr>
                          <m:sty m:val="p"/>
                        </m:rPr>
                        <a:rPr sz="2175" lang="en-US">
                          <a:solidFill>
                            <a:srgbClr val="172D40"/>
                          </a:solidFill>
                          <a:latin typeface="Cambria Math"/>
                        </a:rPr>
                        <m:t>ν</m:t>
                      </m:r>
                    </m:e>
                    <m:sub>
                      <m:r>
                        <m:rPr>
                          <m:sty m:val="p"/>
                        </m:rPr>
                        <a:rPr sz="2175" lang="en-US">
                          <a:solidFill>
                            <a:srgbClr val="172D40"/>
                          </a:solidFill>
                          <a:latin typeface="Cambria Math"/>
                        </a:rPr>
                        <m:t>p</m:t>
                      </m:r>
                    </m:sub>
                  </m:sSub>
                  <m:r>
                    <m:rPr>
                      <m:sty m:val="p"/>
                    </m:rPr>
                    <a:rPr sz="2175" lang="en-US">
                      <a:solidFill>
                        <a:srgbClr val="172D40"/>
                      </a:solidFill>
                      <a:latin typeface="Cambria Math"/>
                    </a:rPr>
                    <m:t> = </m:t>
                  </m:r>
                  <m:rad>
                    <m:radPr>
                      <m:degHide m:val="1"/>
                    </m:radPr>
                    <m:deg/>
                    <m:e>
                      <m:sSub>
                        <m:e>
                          <m:r>
                            <m:rPr>
                              <m:sty m:val="p"/>
                            </m:rPr>
                            <a:rPr sz="2175" lang="en-US">
                              <a:solidFill>
                                <a:srgbClr val="172D40"/>
                              </a:solidFill>
                              <a:latin typeface="Cambria Math"/>
                            </a:rPr>
                            <m:t>m</m:t>
                          </m:r>
                        </m:e>
                        <m:sub>
                          <m:r>
                            <m:rPr>
                              <m:sty m:val="p"/>
                            </m:rPr>
                            <a:rPr sz="2175" lang="en-US">
                              <a:solidFill>
                                <a:srgbClr val="172D40"/>
                              </a:solidFill>
                              <a:latin typeface="Cambria Math"/>
                            </a:rPr>
                            <m:t>4</m:t>
                          </m:r>
                        </m:sub>
                      </m:sSub>
                      <m:r>
                        <m:rPr>
                          <m:sty m:val="p"/>
                        </m:rPr>
                        <a:rPr sz="2175" lang="en-US">
                          <a:solidFill>
                            <a:srgbClr val="172D40"/>
                          </a:solidFill>
                          <a:latin typeface="Cambria Math"/>
                        </a:rPr>
                        <m:t>/</m:t>
                      </m:r>
                      <m:sSub>
                        <m:e>
                          <m:r>
                            <m:rPr>
                              <m:sty m:val="p"/>
                            </m:rPr>
                            <a:rPr sz="2175" lang="en-US">
                              <a:solidFill>
                                <a:srgbClr val="172D40"/>
                              </a:solidFill>
                              <a:latin typeface="Cambria Math"/>
                            </a:rPr>
                            <m:t>m</m:t>
                          </m:r>
                        </m:e>
                        <m:sub>
                          <m:r>
                            <m:rPr>
                              <m:sty m:val="p"/>
                            </m:rPr>
                            <a:rPr sz="2175" lang="en-US">
                              <a:solidFill>
                                <a:srgbClr val="172D40"/>
                              </a:solidFill>
                              <a:latin typeface="Cambria Math"/>
                            </a:rPr>
                            <m:t>2</m:t>
                          </m:r>
                        </m:sub>
                      </m:sSub>
                    </m:e>
                  </m:rad>
                </m:oMath>
              </m:oMathPara>
            </a14:m>
            <a:endParaRPr sz="2175"/>
          </a:p>
        </p:txBody>
      </p:sp>
      <p:sp>
        <p:nvSpPr>
          <p:cNvPr id="12" name="EQ_RANDOM_DAMAGE">
            <a:extLst xmlns:a="http://schemas.openxmlformats.org/drawingml/2006/main">
              <a:ext uri="{FF2B5EF4-FFF2-40B4-BE49-F238E27FC236}">
                <a16:creationId xmlns:a16="http://schemas.microsoft.com/office/drawing/2014/main" id="{C5BC090E-BAA9-41FB-806D-6E04E0234483}"/>
              </a:ext>
            </a:extLst>
          </p:cNvPr>
          <p:cNvSpPr>
            <a:spLocks xmlns:a="http://schemas.openxmlformats.org/drawingml/2006/main" noGrp="1"/>
          </p:cNvSpPr>
          <p:nvPr/>
        </p:nvSpPr>
        <p:spPr>
          <a:xfrm xmlns:a="http://schemas.openxmlformats.org/drawingml/2006/main">
            <a:off x="6496050" y="4286250"/>
            <a:ext cx="5181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172D40"/>
                </a:solidFill>
                <a:latin typeface="Arial"/>
                <a:ea typeface="Arial"/>
                <a:cs typeface="Arial"/>
              </a:defRPr>
            </a:defPPr>
          </a:lstStyle>
          <a:p xmlns:a="http://schemas.openxmlformats.org/drawingml/2006/main">
            <a:pPr algn="l">
              <a:defRPr sz="2175">
                <a:latin typeface="Cambria Math"/>
              </a:defRPr>
            </a:pPr>
            <a14:m xmlns:a14="http://schemas.microsoft.com/office/drawing/2010/main">
              <m:oMathPara xmlns:m="http://schemas.openxmlformats.org/officeDocument/2006/math">
                <m:oMathParaPr>
                  <m:jc m:val="left"/>
                </m:oMathParaPr>
                <m:oMath>
                  <m:sSub>
                    <m:e>
                      <m:r>
                        <m:rPr>
                          <m:sty m:val="p"/>
                        </m:rPr>
                        <a:rPr sz="2175" lang="en-US">
                          <a:solidFill>
                            <a:srgbClr val="172D40"/>
                          </a:solidFill>
                          <a:latin typeface="Cambria Math"/>
                        </a:rPr>
                        <m:t>D</m:t>
                      </m:r>
                    </m:e>
                    <m:sub>
                      <m:r>
                        <m:rPr>
                          <m:sty m:val="p"/>
                        </m:rPr>
                        <a:rPr sz="2175" lang="en-US">
                          <a:solidFill>
                            <a:srgbClr val="172D40"/>
                          </a:solidFill>
                          <a:latin typeface="Cambria Math"/>
                        </a:rPr>
                        <m:t>r</m:t>
                      </m:r>
                    </m:sub>
                  </m:sSub>
                  <m:r>
                    <m:rPr>
                      <m:sty m:val="p"/>
                    </m:rPr>
                    <a:rPr sz="2175" lang="en-US">
                      <a:solidFill>
                        <a:srgbClr val="172D40"/>
                      </a:solidFill>
                      <a:latin typeface="Cambria Math"/>
                    </a:rPr>
                    <m:t> = T </m:t>
                  </m:r>
                  <m:sSub>
                    <m:e>
                      <m:r>
                        <m:rPr>
                          <m:sty m:val="p"/>
                        </m:rPr>
                        <a:rPr sz="2175" lang="en-US">
                          <a:solidFill>
                            <a:srgbClr val="172D40"/>
                          </a:solidFill>
                          <a:latin typeface="Cambria Math"/>
                        </a:rPr>
                        <m:t>ν</m:t>
                      </m:r>
                    </m:e>
                    <m:sub>
                      <m:r>
                        <m:rPr>
                          <m:sty m:val="p"/>
                        </m:rPr>
                        <a:rPr sz="2175" lang="en-US">
                          <a:solidFill>
                            <a:srgbClr val="172D40"/>
                          </a:solidFill>
                          <a:latin typeface="Cambria Math"/>
                        </a:rPr>
                        <m:t>p</m:t>
                      </m:r>
                    </m:sub>
                  </m:sSub>
                  <m:r>
                    <m:rPr>
                      <m:sty m:val="p"/>
                    </m:rPr>
                    <a:rPr sz="2175" lang="en-US">
                      <a:solidFill>
                        <a:srgbClr val="172D40"/>
                      </a:solidFill>
                      <a:latin typeface="Cambria Math"/>
                    </a:rPr>
                    <m:t> </m:t>
                  </m:r>
                  <m:nary>
                    <m:naryPr>
                      <m:chr m:val="∫"/>
                      <m:limLoc m:val="subSup"/>
                      <m:grow m:val="0"/>
                      <m:supHide m:val="0"/>
                    </m:naryPr>
                    <m:sub>
                      <m:r>
                        <m:rPr>
                          <m:sty m:val="p"/>
                        </m:rPr>
                        <a:rPr sz="2175" lang="en-US">
                          <a:solidFill>
                            <a:srgbClr val="172D40"/>
                          </a:solidFill>
                          <a:latin typeface="Cambria Math"/>
                        </a:rPr>
                        <m:t>0</m:t>
                      </m:r>
                    </m:sub>
                    <m:sup>
                      <m:r>
                        <m:rPr>
                          <m:sty m:val="p"/>
                        </m:rPr>
                        <a:rPr sz="2175" lang="en-US">
                          <a:solidFill>
                            <a:srgbClr val="172D40"/>
                          </a:solidFill>
                          <a:latin typeface="Cambria Math"/>
                        </a:rPr>
                        <m:t>∞</m:t>
                      </m:r>
                    </m:sup>
                    <m:e>
                      <m:sSup>
                        <m:e>
                          <m:d>
                            <m:dPr>
                              <m:begChr m:val="("/>
                              <m:endChr m:val=")"/>
                            </m:dPr>
                            <m:e>
                              <m:f>
                                <m:num>
                                  <m:r>
                                    <m:rPr>
                                      <m:sty m:val="p"/>
                                    </m:rPr>
                                    <a:rPr sz="2175" lang="en-US">
                                      <a:solidFill>
                                        <a:srgbClr val="172D40"/>
                                      </a:solidFill>
                                      <a:latin typeface="Cambria Math"/>
                                    </a:rPr>
                                    <m:t>A</m:t>
                                  </m:r>
                                </m:num>
                                <m:den>
                                  <m:sSub>
                                    <m:e>
                                      <m:r>
                                        <m:rPr>
                                          <m:sty m:val="p"/>
                                        </m:rPr>
                                        <a:rPr sz="2175" lang="en-US">
                                          <a:solidFill>
                                            <a:srgbClr val="172D40"/>
                                          </a:solidFill>
                                          <a:latin typeface="Cambria Math"/>
                                        </a:rPr>
                                        <m:t>z</m:t>
                                      </m:r>
                                    </m:e>
                                    <m:sub>
                                      <m:r>
                                        <m:rPr>
                                          <m:sty m:val="p"/>
                                        </m:rPr>
                                        <a:rPr sz="2175" lang="en-US">
                                          <a:solidFill>
                                            <a:srgbClr val="172D40"/>
                                          </a:solidFill>
                                          <a:latin typeface="Cambria Math"/>
                                        </a:rPr>
                                        <m:t>ref</m:t>
                                      </m:r>
                                    </m:sub>
                                  </m:sSub>
                                </m:den>
                              </m:f>
                            </m:e>
                          </m:d>
                        </m:e>
                        <m:sup>
                          <m:r>
                            <m:rPr>
                              <m:sty m:val="p"/>
                            </m:rPr>
                            <a:rPr sz="2175" lang="en-US">
                              <a:solidFill>
                                <a:srgbClr val="172D40"/>
                              </a:solidFill>
                              <a:latin typeface="Cambria Math"/>
                            </a:rPr>
                            <m:t>b</m:t>
                          </m:r>
                        </m:sup>
                      </m:sSup>
                      <m:r>
                        <m:rPr>
                          <m:sty m:val="p"/>
                        </m:rPr>
                        <a:rPr sz="2175" lang="en-US">
                          <a:solidFill>
                            <a:srgbClr val="172D40"/>
                          </a:solidFill>
                          <a:latin typeface="Cambria Math"/>
                        </a:rPr>
                        <m:t> </m:t>
                      </m:r>
                      <m:sSub>
                        <m:e>
                          <m:r>
                            <m:rPr>
                              <m:sty m:val="p"/>
                            </m:rPr>
                            <a:rPr sz="2175" lang="en-US">
                              <a:solidFill>
                                <a:srgbClr val="172D40"/>
                              </a:solidFill>
                              <a:latin typeface="Cambria Math"/>
                            </a:rPr>
                            <m:t>p</m:t>
                          </m:r>
                        </m:e>
                        <m:sub>
                          <m:r>
                            <m:rPr>
                              <m:sty m:val="p"/>
                            </m:rPr>
                            <a:rPr sz="2175" lang="en-US">
                              <a:solidFill>
                                <a:srgbClr val="172D40"/>
                              </a:solidFill>
                              <a:latin typeface="Cambria Math"/>
                            </a:rPr>
                            <m:t>D</m:t>
                          </m:r>
                        </m:sub>
                      </m:sSub>
                      <m:r>
                        <m:rPr>
                          <m:sty m:val="p"/>
                        </m:rPr>
                        <a:rPr sz="2175" lang="en-US">
                          <a:solidFill>
                            <a:srgbClr val="172D40"/>
                          </a:solidFill>
                          <a:latin typeface="Cambria Math"/>
                        </a:rPr>
                        <m:t>(A) dA</m:t>
                      </m:r>
                    </m:e>
                  </m:nary>
                </m:oMath>
              </m:oMathPara>
            </a14:m>
            <a:endParaRPr sz="2175"/>
          </a:p>
        </p:txBody>
      </p:sp>
      <p:sp>
        <p:nvSpPr>
          <p:cNvPr id="13" name="coverage-label">
            <a:extLst xmlns:a="http://schemas.openxmlformats.org/drawingml/2006/main">
              <a:ext uri="{FF2B5EF4-FFF2-40B4-BE49-F238E27FC236}">
                <a16:creationId xmlns:a16="http://schemas.microsoft.com/office/drawing/2014/main" id="{E41DD7DA-8356-48B4-81AE-BB184689A973}"/>
              </a:ext>
            </a:extLst>
          </p:cNvPr>
          <p:cNvSpPr>
            <a:spLocks xmlns:a="http://schemas.openxmlformats.org/drawingml/2006/main" noGrp="1"/>
          </p:cNvSpPr>
          <p:nvPr/>
        </p:nvSpPr>
        <p:spPr>
          <a:xfrm xmlns:a="http://schemas.openxmlformats.org/drawingml/2006/main">
            <a:off x="514350" y="5286375"/>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F83"/>
                </a:solidFill>
                <a:latin typeface="Arial"/>
                <a:ea typeface="Arial"/>
                <a:cs typeface="Arial"/>
              </a:defRPr>
            </a:defPPr>
          </a:lstStyle>
          <a:p xmlns:a="http://schemas.openxmlformats.org/drawingml/2006/main">
            <a:pPr>
              <a:defRPr sz="2100" b="1">
                <a:solidFill>
                  <a:srgbClr val="087F83"/>
                </a:solidFill>
                <a:latin typeface="Arial"/>
                <a:ea typeface="Arial"/>
                <a:cs typeface="Arial"/>
              </a:defRPr>
            </a:pPr>
            <a:r>
              <a:rPr sz="2100" b="1">
                <a:solidFill>
                  <a:srgbClr val="087F83"/>
                </a:solidFill>
                <a:latin typeface="Arial"/>
                <a:ea typeface="Arial"/>
                <a:cs typeface="Arial"/>
              </a:rPr>
              <a:t>Fatigue coverage</a:t>
            </a:r>
          </a:p>
        </p:txBody>
      </p:sp>
      <p:sp>
        <p:nvSpPr>
          <p:cNvPr id="14" name="EQ_FATIGUE_COVERAGE">
            <a:extLst xmlns:a="http://schemas.openxmlformats.org/drawingml/2006/main">
              <a:ext uri="{FF2B5EF4-FFF2-40B4-BE49-F238E27FC236}">
                <a16:creationId xmlns:a16="http://schemas.microsoft.com/office/drawing/2014/main" id="{9EF76619-B33C-447A-91A4-6467A497CBE0}"/>
              </a:ext>
            </a:extLst>
          </p:cNvPr>
          <p:cNvSpPr>
            <a:spLocks xmlns:a="http://schemas.openxmlformats.org/drawingml/2006/main" noGrp="1"/>
          </p:cNvSpPr>
          <p:nvPr/>
        </p:nvSpPr>
        <p:spPr>
          <a:xfrm xmlns:a="http://schemas.openxmlformats.org/drawingml/2006/main">
            <a:off x="3295650" y="5105400"/>
            <a:ext cx="4476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0">
                <a:solidFill>
                  <a:srgbClr val="172D40"/>
                </a:solidFill>
                <a:latin typeface="Arial"/>
                <a:ea typeface="Arial"/>
                <a:cs typeface="Arial"/>
              </a:defRPr>
            </a:defPPr>
          </a:lstStyle>
          <a:p xmlns:a="http://schemas.openxmlformats.org/drawingml/2006/main">
            <a:pPr algn="l">
              <a:defRPr sz="2550">
                <a:latin typeface="Cambria Math"/>
              </a:defRPr>
            </a:pPr>
            <a14:m xmlns:a14="http://schemas.microsoft.com/office/drawing/2010/main">
              <m:oMathPara xmlns:m="http://schemas.openxmlformats.org/officeDocument/2006/math">
                <m:oMathParaPr>
                  <m:jc m:val="left"/>
                </m:oMathParaPr>
                <m:oMath>
                  <m:sSub>
                    <m:e>
                      <m:r>
                        <m:rPr>
                          <m:sty m:val="p"/>
                        </m:rPr>
                        <a:rPr sz="2550" lang="en-US">
                          <a:solidFill>
                            <a:srgbClr val="172D40"/>
                          </a:solidFill>
                          <a:latin typeface="Cambria Math"/>
                        </a:rPr>
                        <m:t>C</m:t>
                      </m:r>
                    </m:e>
                    <m:sub>
                      <m:r>
                        <m:rPr>
                          <m:sty m:val="p"/>
                        </m:rPr>
                        <a:rPr sz="2550" lang="en-US">
                          <a:solidFill>
                            <a:srgbClr val="172D40"/>
                          </a:solidFill>
                          <a:latin typeface="Cambria Math"/>
                        </a:rPr>
                        <m:t>f</m:t>
                      </m:r>
                    </m:sub>
                  </m:sSub>
                  <m:r>
                    <m:rPr>
                      <m:sty m:val="p"/>
                    </m:rPr>
                    <a:rPr sz="2550" lang="en-US">
                      <a:solidFill>
                        <a:srgbClr val="172D40"/>
                      </a:solidFill>
                      <a:latin typeface="Cambria Math"/>
                    </a:rPr>
                    <m:t> = </m:t>
                  </m:r>
                  <m:f>
                    <m:num>
                      <m:sSub>
                        <m:e>
                          <m:r>
                            <m:rPr>
                              <m:sty m:val="p"/>
                            </m:rPr>
                            <a:rPr sz="2550" lang="en-US">
                              <a:solidFill>
                                <a:srgbClr val="172D40"/>
                              </a:solidFill>
                              <a:latin typeface="Cambria Math"/>
                            </a:rPr>
                            <m:t>D</m:t>
                          </m:r>
                        </m:e>
                        <m:sub>
                          <m:r>
                            <m:rPr>
                              <m:sty m:val="p"/>
                            </m:rPr>
                            <a:rPr sz="2550" lang="en-US">
                              <a:solidFill>
                                <a:srgbClr val="172D40"/>
                              </a:solidFill>
                              <a:latin typeface="Cambria Math"/>
                            </a:rPr>
                            <m:t>s</m:t>
                          </m:r>
                        </m:sub>
                      </m:sSub>
                    </m:num>
                    <m:den>
                      <m:r>
                        <m:rPr>
                          <m:sty m:val="p"/>
                        </m:rPr>
                        <a:rPr sz="2550" lang="en-US">
                          <a:solidFill>
                            <a:srgbClr val="172D40"/>
                          </a:solidFill>
                          <a:latin typeface="Cambria Math"/>
                        </a:rPr>
                        <m:t>F </m:t>
                      </m:r>
                      <m:sSub>
                        <m:e>
                          <m:r>
                            <m:rPr>
                              <m:sty m:val="p"/>
                            </m:rPr>
                            <a:rPr sz="2550" lang="en-US">
                              <a:solidFill>
                                <a:srgbClr val="172D40"/>
                              </a:solidFill>
                              <a:latin typeface="Cambria Math"/>
                            </a:rPr>
                            <m:t>D</m:t>
                          </m:r>
                        </m:e>
                        <m:sub>
                          <m:r>
                            <m:rPr>
                              <m:sty m:val="p"/>
                            </m:rPr>
                            <a:rPr sz="2550" lang="en-US">
                              <a:solidFill>
                                <a:srgbClr val="172D40"/>
                              </a:solidFill>
                              <a:latin typeface="Cambria Math"/>
                            </a:rPr>
                            <m:t>r</m:t>
                          </m:r>
                        </m:sub>
                      </m:sSub>
                    </m:den>
                  </m:f>
                  <m:r>
                    <m:rPr>
                      <m:sty m:val="p"/>
                    </m:rPr>
                    <a:rPr sz="2550" lang="en-US">
                      <a:solidFill>
                        <a:srgbClr val="172D40"/>
                      </a:solidFill>
                      <a:latin typeface="Cambria Math"/>
                    </a:rPr>
                    <m:t> = </m:t>
                  </m:r>
                  <m:f>
                    <m:num>
                      <m:r>
                        <m:rPr>
                          <m:sty m:val="p"/>
                        </m:rPr>
                        <a:rPr sz="2550" lang="en-US">
                          <a:solidFill>
                            <a:srgbClr val="172D40"/>
                          </a:solidFill>
                          <a:latin typeface="Cambria Math"/>
                        </a:rPr>
                        <m:t>R</m:t>
                      </m:r>
                    </m:num>
                    <m:den>
                      <m:r>
                        <m:rPr>
                          <m:sty m:val="p"/>
                        </m:rPr>
                        <a:rPr sz="2550" lang="en-US">
                          <a:solidFill>
                            <a:srgbClr val="172D40"/>
                          </a:solidFill>
                          <a:latin typeface="Cambria Math"/>
                        </a:rPr>
                        <m:t>F</m:t>
                      </m:r>
                    </m:den>
                  </m:f>
                </m:oMath>
              </m:oMathPara>
            </a14:m>
            <a:endParaRPr sz="2550"/>
          </a:p>
        </p:txBody>
      </p:sp>
      <p:sp>
        <p:nvSpPr>
          <p:cNvPr id="15" name="coverage-meaning">
            <a:extLst xmlns:a="http://schemas.openxmlformats.org/drawingml/2006/main">
              <a:ext uri="{FF2B5EF4-FFF2-40B4-BE49-F238E27FC236}">
                <a16:creationId xmlns:a16="http://schemas.microsoft.com/office/drawing/2014/main" id="{F9F71987-33F3-4816-8F15-554D6A8E54FD}"/>
              </a:ext>
            </a:extLst>
          </p:cNvPr>
          <p:cNvSpPr>
            <a:spLocks xmlns:a="http://schemas.openxmlformats.org/drawingml/2006/main" noGrp="1"/>
          </p:cNvSpPr>
          <p:nvPr/>
        </p:nvSpPr>
        <p:spPr>
          <a:xfrm xmlns:a="http://schemas.openxmlformats.org/drawingml/2006/main">
            <a:off x="8201025" y="5172075"/>
            <a:ext cx="3448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72D40"/>
                </a:solidFill>
                <a:latin typeface="Arial"/>
                <a:ea typeface="Arial"/>
                <a:cs typeface="Arial"/>
              </a:defRPr>
            </a:defPPr>
          </a:lstStyle>
          <a:p xmlns:a="http://schemas.openxmlformats.org/drawingml/2006/main">
            <a:pPr>
              <a:defRPr sz="1875" b="1">
                <a:solidFill>
                  <a:srgbClr val="172D40"/>
                </a:solidFill>
                <a:latin typeface="Arial"/>
                <a:ea typeface="Arial"/>
                <a:cs typeface="Arial"/>
              </a:defRPr>
            </a:pPr>
            <a:r>
              <a:rPr sz="1875" b="1">
                <a:solidFill>
                  <a:srgbClr val="172D40"/>
                </a:solidFill>
                <a:latin typeface="Arial"/>
                <a:ea typeface="Arial"/>
                <a:cs typeface="Arial"/>
              </a:rPr>
              <a:t>Coverage ≥ 1 meets</a:t>
            </a:r>
          </a:p>
          <a:p xmlns:a="http://schemas.openxmlformats.org/drawingml/2006/main">
            <a:pPr>
              <a:defRPr sz="1875" b="1">
                <a:solidFill>
                  <a:srgbClr val="172D40"/>
                </a:solidFill>
                <a:latin typeface="Arial"/>
                <a:ea typeface="Arial"/>
                <a:cs typeface="Arial"/>
              </a:defRPr>
            </a:pPr>
            <a:r>
              <a:rPr sz="1875" b="1">
                <a:solidFill>
                  <a:srgbClr val="172D40"/>
                </a:solidFill>
                <a:latin typeface="Arial"/>
                <a:ea typeface="Arial"/>
                <a:cs typeface="Arial"/>
              </a:rPr>
              <a:t>the modeled fatigue target.</a:t>
            </a:r>
          </a:p>
        </p:txBody>
      </p:sp>
      <p:sp>
        <p:nvSpPr>
          <p:cNvPr id="16" name="independent-dwells">
            <a:extLst xmlns:a="http://schemas.openxmlformats.org/drawingml/2006/main">
              <a:ext uri="{FF2B5EF4-FFF2-40B4-BE49-F238E27FC236}">
                <a16:creationId xmlns:a16="http://schemas.microsoft.com/office/drawing/2014/main" id="{99BB87CD-BBDC-4E63-92DD-CFFCA3124C17}"/>
              </a:ext>
            </a:extLst>
          </p:cNvPr>
          <p:cNvSpPr>
            <a:spLocks xmlns:a="http://schemas.openxmlformats.org/drawingml/2006/main" noGrp="1"/>
          </p:cNvSpPr>
          <p:nvPr/>
        </p:nvSpPr>
        <p:spPr>
          <a:xfrm xmlns:a="http://schemas.openxmlformats.org/drawingml/2006/main">
            <a:off x="514350" y="6200775"/>
            <a:ext cx="11182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06779"/>
                </a:solidFill>
                <a:latin typeface="Arial"/>
                <a:ea typeface="Arial"/>
                <a:cs typeface="Arial"/>
              </a:defRPr>
            </a:defPPr>
          </a:lstStyle>
          <a:p xmlns:a="http://schemas.openxmlformats.org/drawingml/2006/main">
            <a:pPr>
              <a:defRPr sz="1725" b="0">
                <a:solidFill>
                  <a:srgbClr val="506779"/>
                </a:solidFill>
                <a:latin typeface="Arial"/>
                <a:ea typeface="Arial"/>
                <a:cs typeface="Arial"/>
              </a:defRPr>
            </a:pPr>
            <a:r>
              <a:rPr sz="1725" b="0">
                <a:solidFill>
                  <a:srgbClr val="506779"/>
                </a:solidFill>
                <a:latin typeface="Arial"/>
                <a:ea typeface="Arial"/>
                <a:cs typeface="Arial"/>
              </a:rPr>
              <a:t>Assumed resonances: one independent dwell at each frequency.</a:t>
            </a:r>
          </a:p>
        </p:txBody>
      </p:sp>
    </p:spTree>
    <p:extLst>
      <p:ext uri="{BB962C8B-B14F-4D97-AF65-F5344CB8AC3E}">
        <p14:creationId xmlns:p14="http://schemas.microsoft.com/office/powerpoint/2010/main" val="7824738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DD250F36-71E8-492E-946F-43A7534D71EC}"/>
              </a:ext>
            </a:extLst>
          </p:cNvPr>
          <p:cNvSpPr>
            <a:spLocks xmlns:a="http://schemas.openxmlformats.org/drawingml/2006/main" noGrp="1"/>
          </p:cNvSpPr>
          <p:nvPr/>
        </p:nvSpPr>
        <p:spPr>
          <a:xfrm xmlns:a="http://schemas.openxmlformats.org/drawingml/2006/main">
            <a:off x="495300" y="323850"/>
            <a:ext cx="11201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300" b="1">
                <a:solidFill>
                  <a:srgbClr val="172D40"/>
                </a:solidFill>
                <a:latin typeface="Arial"/>
                <a:ea typeface="Arial"/>
                <a:cs typeface="Arial"/>
              </a:defRPr>
            </a:defPPr>
          </a:lstStyle>
          <a:p xmlns:a="http://schemas.openxmlformats.org/drawingml/2006/main">
            <a:pPr>
              <a:defRPr sz="3300" b="1">
                <a:solidFill>
                  <a:srgbClr val="172D40"/>
                </a:solidFill>
                <a:latin typeface="Arial"/>
                <a:ea typeface="Arial"/>
                <a:cs typeface="Arial"/>
              </a:defRPr>
            </a:pPr>
            <a:r>
              <a:rPr sz="3300" b="1">
                <a:solidFill>
                  <a:srgbClr val="172D40"/>
                </a:solidFill>
                <a:latin typeface="Arial"/>
                <a:ea typeface="Arial"/>
                <a:cs typeface="Arial"/>
              </a:rPr>
              <a:t>Peak response calculation and coverage</a:t>
            </a:r>
          </a:p>
        </p:txBody>
      </p:sp>
      <p:sp>
        <p:nvSpPr>
          <p:cNvPr id="2" name="subtitle">
            <a:extLst xmlns:a="http://schemas.openxmlformats.org/drawingml/2006/main">
              <a:ext uri="{FF2B5EF4-FFF2-40B4-BE49-F238E27FC236}">
                <a16:creationId xmlns:a16="http://schemas.microsoft.com/office/drawing/2014/main" id="{75156B58-90FB-4D5C-A04E-2D4CE53E6401}"/>
              </a:ext>
            </a:extLst>
          </p:cNvPr>
          <p:cNvSpPr>
            <a:spLocks xmlns:a="http://schemas.openxmlformats.org/drawingml/2006/main" noGrp="1"/>
          </p:cNvSpPr>
          <p:nvPr/>
        </p:nvSpPr>
        <p:spPr>
          <a:xfrm xmlns:a="http://schemas.openxmlformats.org/drawingml/2006/main">
            <a:off x="514350" y="952500"/>
            <a:ext cx="11182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506779"/>
                </a:solidFill>
                <a:latin typeface="Arial"/>
                <a:ea typeface="Arial"/>
                <a:cs typeface="Arial"/>
              </a:defRPr>
            </a:defPPr>
          </a:lstStyle>
          <a:p xmlns:a="http://schemas.openxmlformats.org/drawingml/2006/main">
            <a:pPr>
              <a:defRPr sz="1875" b="0">
                <a:solidFill>
                  <a:srgbClr val="506779"/>
                </a:solidFill>
                <a:latin typeface="Arial"/>
                <a:ea typeface="Arial"/>
                <a:cs typeface="Arial"/>
              </a:defRPr>
            </a:pPr>
            <a:r>
              <a:rPr sz="1875" b="0">
                <a:solidFill>
                  <a:srgbClr val="506779"/>
                </a:solidFill>
                <a:latin typeface="Arial"/>
                <a:ea typeface="Arial"/>
                <a:cs typeface="Arial"/>
              </a:rPr>
              <a:t>Compare the same relative-displacement response at each oscillator</a:t>
            </a:r>
          </a:p>
        </p:txBody>
      </p:sp>
      <p:sp>
        <p:nvSpPr>
          <p:cNvPr id="3" name="sine-title">
            <a:extLst xmlns:a="http://schemas.openxmlformats.org/drawingml/2006/main">
              <a:ext uri="{FF2B5EF4-FFF2-40B4-BE49-F238E27FC236}">
                <a16:creationId xmlns:a16="http://schemas.microsoft.com/office/drawing/2014/main" id="{5354631F-3048-48A1-A428-BDD0DE9C5DB7}"/>
              </a:ext>
            </a:extLst>
          </p:cNvPr>
          <p:cNvSpPr>
            <a:spLocks xmlns:a="http://schemas.openxmlformats.org/drawingml/2006/main" noGrp="1"/>
          </p:cNvSpPr>
          <p:nvPr/>
        </p:nvSpPr>
        <p:spPr>
          <a:xfrm xmlns:a="http://schemas.openxmlformats.org/drawingml/2006/main">
            <a:off x="514350" y="1628775"/>
            <a:ext cx="516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F83"/>
                </a:solidFill>
                <a:latin typeface="Arial"/>
                <a:ea typeface="Arial"/>
                <a:cs typeface="Arial"/>
              </a:defRPr>
            </a:defPPr>
          </a:lstStyle>
          <a:p xmlns:a="http://schemas.openxmlformats.org/drawingml/2006/main">
            <a:pPr>
              <a:defRPr sz="2250" b="1">
                <a:solidFill>
                  <a:srgbClr val="087F83"/>
                </a:solidFill>
                <a:latin typeface="Arial"/>
                <a:ea typeface="Arial"/>
                <a:cs typeface="Arial"/>
              </a:defRPr>
            </a:pPr>
            <a:r>
              <a:rPr sz="2250" b="1">
                <a:solidFill>
                  <a:srgbClr val="087F83"/>
                </a:solidFill>
                <a:latin typeface="Arial"/>
                <a:ea typeface="Arial"/>
                <a:cs typeface="Arial"/>
              </a:rPr>
              <a:t>Sine peak</a:t>
            </a:r>
          </a:p>
        </p:txBody>
      </p:sp>
      <p:sp>
        <p:nvSpPr>
          <p:cNvPr id="4" name="random-title">
            <a:extLst xmlns:a="http://schemas.openxmlformats.org/drawingml/2006/main">
              <a:ext uri="{FF2B5EF4-FFF2-40B4-BE49-F238E27FC236}">
                <a16:creationId xmlns:a16="http://schemas.microsoft.com/office/drawing/2014/main" id="{F754C35F-53AD-4214-BD93-ECE31E388414}"/>
              </a:ext>
            </a:extLst>
          </p:cNvPr>
          <p:cNvSpPr>
            <a:spLocks xmlns:a="http://schemas.openxmlformats.org/drawingml/2006/main" noGrp="1"/>
          </p:cNvSpPr>
          <p:nvPr/>
        </p:nvSpPr>
        <p:spPr>
          <a:xfrm xmlns:a="http://schemas.openxmlformats.org/drawingml/2006/main">
            <a:off x="6496050" y="1628775"/>
            <a:ext cx="5181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F83"/>
                </a:solidFill>
                <a:latin typeface="Arial"/>
                <a:ea typeface="Arial"/>
                <a:cs typeface="Arial"/>
              </a:defRPr>
            </a:defPPr>
          </a:lstStyle>
          <a:p xmlns:a="http://schemas.openxmlformats.org/drawingml/2006/main">
            <a:pPr>
              <a:defRPr sz="2250" b="1">
                <a:solidFill>
                  <a:srgbClr val="087F83"/>
                </a:solidFill>
                <a:latin typeface="Arial"/>
                <a:ea typeface="Arial"/>
                <a:cs typeface="Arial"/>
              </a:defRPr>
            </a:pPr>
            <a:r>
              <a:rPr sz="2250" b="1">
                <a:solidFill>
                  <a:srgbClr val="087F83"/>
                </a:solidFill>
                <a:latin typeface="Arial"/>
                <a:ea typeface="Arial"/>
                <a:cs typeface="Arial"/>
              </a:rPr>
              <a:t>Random peak</a:t>
            </a:r>
          </a:p>
        </p:txBody>
      </p:sp>
      <p:sp>
        <p:nvSpPr>
          <p:cNvPr id="5" name="sine-bullets">
            <a:extLst xmlns:a="http://schemas.openxmlformats.org/drawingml/2006/main">
              <a:ext uri="{FF2B5EF4-FFF2-40B4-BE49-F238E27FC236}">
                <a16:creationId xmlns:a16="http://schemas.microsoft.com/office/drawing/2014/main" id="{C4C942B2-F843-49AE-9DC6-A81F91289B56}"/>
              </a:ext>
            </a:extLst>
          </p:cNvPr>
          <p:cNvSpPr>
            <a:spLocks xmlns:a="http://schemas.openxmlformats.org/drawingml/2006/main" noGrp="1"/>
          </p:cNvSpPr>
          <p:nvPr/>
        </p:nvSpPr>
        <p:spPr>
          <a:xfrm xmlns:a="http://schemas.openxmlformats.org/drawingml/2006/main">
            <a:off x="514350" y="2152650"/>
            <a:ext cx="5162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172D40"/>
                </a:solidFill>
                <a:latin typeface="Arial"/>
                <a:ea typeface="Arial"/>
                <a:cs typeface="Arial"/>
              </a:defRPr>
            </a:defPPr>
          </a:lstStyle>
          <a:p xmlns:a="http://schemas.openxmlformats.org/drawingml/2006/main">
            <a:pPr marL="190500" indent="-101600">
              <a:spcAft>
                <a:spcPts val="1000"/>
              </a:spcAft>
              <a:buChar char="•"/>
              <a:defRPr sz="1875" b="0">
                <a:solidFill>
                  <a:srgbClr val="172D40"/>
                </a:solidFill>
                <a:latin typeface="Arial"/>
                <a:ea typeface="Arial"/>
                <a:cs typeface="Arial"/>
              </a:defRPr>
            </a:pPr>
            <a:r>
              <a:t>Find the largest response in the exposure.</a:t>
            </a:r>
          </a:p>
          <a:p xmlns:a="http://schemas.openxmlformats.org/drawingml/2006/main">
            <a:pPr marL="190500" indent="-101600">
              <a:spcAft>
                <a:spcPts val="1000"/>
              </a:spcAft>
              <a:buChar char="•"/>
              <a:defRPr sz="1875" b="0">
                <a:solidFill>
                  <a:srgbClr val="172D40"/>
                </a:solidFill>
                <a:latin typeface="Arial"/>
                <a:ea typeface="Arial"/>
                <a:cs typeface="Arial"/>
              </a:defRPr>
            </a:pPr>
            <a:r>
              <a:t>Include dwell peaks and any enabled sweep.</a:t>
            </a:r>
          </a:p>
        </p:txBody>
      </p:sp>
      <p:sp>
        <p:nvSpPr>
          <p:cNvPr id="6" name="random-bullets">
            <a:extLst xmlns:a="http://schemas.openxmlformats.org/drawingml/2006/main">
              <a:ext uri="{FF2B5EF4-FFF2-40B4-BE49-F238E27FC236}">
                <a16:creationId xmlns:a16="http://schemas.microsoft.com/office/drawing/2014/main" id="{B18BBDA8-5C0C-425E-8172-A809DB6443C9}"/>
              </a:ext>
            </a:extLst>
          </p:cNvPr>
          <p:cNvSpPr>
            <a:spLocks xmlns:a="http://schemas.openxmlformats.org/drawingml/2006/main" noGrp="1"/>
          </p:cNvSpPr>
          <p:nvPr/>
        </p:nvSpPr>
        <p:spPr>
          <a:xfrm xmlns:a="http://schemas.openxmlformats.org/drawingml/2006/main">
            <a:off x="6496050" y="2152650"/>
            <a:ext cx="5181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172D40"/>
                </a:solidFill>
                <a:latin typeface="Arial"/>
                <a:ea typeface="Arial"/>
                <a:cs typeface="Arial"/>
              </a:defRPr>
            </a:defPPr>
          </a:lstStyle>
          <a:p xmlns:a="http://schemas.openxmlformats.org/drawingml/2006/main">
            <a:pPr marL="190500" indent="-101600">
              <a:spcAft>
                <a:spcPts val="1000"/>
              </a:spcAft>
              <a:buChar char="•"/>
              <a:defRPr sz="1875" b="0">
                <a:solidFill>
                  <a:srgbClr val="172D40"/>
                </a:solidFill>
                <a:latin typeface="Arial"/>
                <a:ea typeface="Arial"/>
                <a:cs typeface="Arial"/>
              </a:defRPr>
            </a:pPr>
            <a:r>
              <a:t>Default: selected k × RMS.</a:t>
            </a:r>
          </a:p>
          <a:p xmlns:a="http://schemas.openxmlformats.org/drawingml/2006/main">
            <a:pPr marL="190500" indent="-101600">
              <a:spcAft>
                <a:spcPts val="1000"/>
              </a:spcAft>
              <a:buChar char="•"/>
              <a:defRPr sz="1875" b="0">
                <a:solidFill>
                  <a:srgbClr val="172D40"/>
                </a:solidFill>
                <a:latin typeface="Arial"/>
                <a:ea typeface="Arial"/>
                <a:cs typeface="Arial"/>
              </a:defRPr>
            </a:pPr>
            <a:r>
              <a:t>Optional: use duration and probability.</a:t>
            </a:r>
          </a:p>
        </p:txBody>
      </p:sp>
      <p:sp>
        <p:nvSpPr>
          <p:cNvPr id="7" name="EQ_SINE_PEAK">
            <a:extLst xmlns:a="http://schemas.openxmlformats.org/drawingml/2006/main">
              <a:ext uri="{FF2B5EF4-FFF2-40B4-BE49-F238E27FC236}">
                <a16:creationId xmlns:a16="http://schemas.microsoft.com/office/drawing/2014/main" id="{102BB4EB-254A-40AB-9301-FB5015B8C018}"/>
              </a:ext>
            </a:extLst>
          </p:cNvPr>
          <p:cNvSpPr>
            <a:spLocks xmlns:a="http://schemas.openxmlformats.org/drawingml/2006/main" noGrp="1"/>
          </p:cNvSpPr>
          <p:nvPr/>
        </p:nvSpPr>
        <p:spPr>
          <a:xfrm xmlns:a="http://schemas.openxmlformats.org/drawingml/2006/main">
            <a:off x="514350" y="3314700"/>
            <a:ext cx="5334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72D40"/>
                </a:solidFill>
                <a:latin typeface="Arial"/>
                <a:ea typeface="Arial"/>
                <a:cs typeface="Arial"/>
              </a:defRPr>
            </a:defPPr>
          </a:lstStyle>
          <a:p xmlns:a="http://schemas.openxmlformats.org/drawingml/2006/main">
            <a:pPr algn="l">
              <a:defRPr sz="2325">
                <a:latin typeface="Cambria Math"/>
              </a:defRPr>
            </a:pPr>
            <a14:m xmlns:a14="http://schemas.microsoft.com/office/drawing/2010/main">
              <m:oMathPara xmlns:m="http://schemas.openxmlformats.org/officeDocument/2006/math">
                <m:oMathParaPr>
                  <m:jc m:val="left"/>
                </m:oMathParaPr>
                <m:oMath>
                  <m:sSub>
                    <m:e>
                      <m:r>
                        <m:rPr>
                          <m:sty m:val="p"/>
                        </m:rPr>
                        <a:rPr sz="2325" lang="en-US">
                          <a:solidFill>
                            <a:srgbClr val="172D40"/>
                          </a:solidFill>
                          <a:latin typeface="Cambria Math"/>
                        </a:rPr>
                        <m:t>z</m:t>
                      </m:r>
                    </m:e>
                    <m:sub>
                      <m:r>
                        <m:rPr>
                          <m:sty m:val="p"/>
                        </m:rPr>
                        <a:rPr sz="2325" lang="en-US">
                          <a:solidFill>
                            <a:srgbClr val="172D40"/>
                          </a:solidFill>
                          <a:latin typeface="Cambria Math"/>
                        </a:rPr>
                        <m:t>s,pk</m:t>
                      </m:r>
                    </m:sub>
                  </m:sSub>
                  <m:r>
                    <m:rPr>
                      <m:sty m:val="p"/>
                    </m:rPr>
                    <a:rPr sz="2325" lang="en-US">
                      <a:solidFill>
                        <a:srgbClr val="172D40"/>
                      </a:solidFill>
                      <a:latin typeface="Cambria Math"/>
                    </a:rPr>
                    <m:t> = max</m:t>
                  </m:r>
                  <m:d>
                    <m:dPr>
                      <m:begChr m:val="("/>
                      <m:endChr m:val=")"/>
                    </m:dPr>
                    <m:e>
                      <m:sSub>
                        <m:e>
                          <m:r>
                            <m:rPr>
                              <m:sty m:val="p"/>
                            </m:rPr>
                            <a:rPr sz="2325" lang="en-US">
                              <a:solidFill>
                                <a:srgbClr val="172D40"/>
                              </a:solidFill>
                              <a:latin typeface="Cambria Math"/>
                            </a:rPr>
                            <m:t>A</m:t>
                          </m:r>
                        </m:e>
                        <m:sub>
                          <m:r>
                            <m:rPr>
                              <m:sty m:val="p"/>
                            </m:rPr>
                            <a:rPr sz="2325" lang="en-US">
                              <a:solidFill>
                                <a:srgbClr val="172D40"/>
                              </a:solidFill>
                              <a:latin typeface="Cambria Math"/>
                            </a:rPr>
                            <m:t>dwell</m:t>
                          </m:r>
                        </m:sub>
                      </m:sSub>
                      <m:r>
                        <m:rPr>
                          <m:sty m:val="p"/>
                        </m:rPr>
                        <a:rPr sz="2325" lang="en-US">
                          <a:solidFill>
                            <a:srgbClr val="172D40"/>
                          </a:solidFill>
                          <a:latin typeface="Cambria Math"/>
                        </a:rPr>
                        <m:t>, </m:t>
                      </m:r>
                      <m:sSub>
                        <m:e>
                          <m:r>
                            <m:rPr>
                              <m:sty m:val="p"/>
                            </m:rPr>
                            <a:rPr sz="2325" lang="en-US">
                              <a:solidFill>
                                <a:srgbClr val="172D40"/>
                              </a:solidFill>
                              <a:latin typeface="Cambria Math"/>
                            </a:rPr>
                            <m:t>A</m:t>
                          </m:r>
                        </m:e>
                        <m:sub>
                          <m:r>
                            <m:rPr>
                              <m:sty m:val="p"/>
                            </m:rPr>
                            <a:rPr sz="2325" lang="en-US">
                              <a:solidFill>
                                <a:srgbClr val="172D40"/>
                              </a:solidFill>
                              <a:latin typeface="Cambria Math"/>
                            </a:rPr>
                            <m:t>sweep</m:t>
                          </m:r>
                        </m:sub>
                      </m:sSub>
                    </m:e>
                  </m:d>
                </m:oMath>
              </m:oMathPara>
            </a14:m>
            <a:endParaRPr sz="2325"/>
          </a:p>
        </p:txBody>
      </p:sp>
      <p:sp>
        <p:nvSpPr>
          <p:cNvPr id="8" name="resonance-label">
            <a:extLst xmlns:a="http://schemas.openxmlformats.org/drawingml/2006/main">
              <a:ext uri="{FF2B5EF4-FFF2-40B4-BE49-F238E27FC236}">
                <a16:creationId xmlns:a16="http://schemas.microsoft.com/office/drawing/2014/main" id="{841A712F-4E19-41C1-AA1E-3C7C8B5C7BBB}"/>
              </a:ext>
            </a:extLst>
          </p:cNvPr>
          <p:cNvSpPr>
            <a:spLocks xmlns:a="http://schemas.openxmlformats.org/drawingml/2006/main" noGrp="1"/>
          </p:cNvSpPr>
          <p:nvPr/>
        </p:nvSpPr>
        <p:spPr>
          <a:xfrm xmlns:a="http://schemas.openxmlformats.org/drawingml/2006/main">
            <a:off x="514350" y="4162425"/>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506779"/>
                </a:solidFill>
                <a:latin typeface="Arial"/>
                <a:ea typeface="Arial"/>
                <a:cs typeface="Arial"/>
              </a:defRPr>
            </a:defPPr>
          </a:lstStyle>
          <a:p xmlns:a="http://schemas.openxmlformats.org/drawingml/2006/main">
            <a:pPr>
              <a:defRPr sz="1800" b="0">
                <a:solidFill>
                  <a:srgbClr val="506779"/>
                </a:solidFill>
                <a:latin typeface="Arial"/>
                <a:ea typeface="Arial"/>
                <a:cs typeface="Arial"/>
              </a:defRPr>
            </a:pPr>
            <a:r>
              <a:rPr sz="1800" b="0">
                <a:solidFill>
                  <a:srgbClr val="506779"/>
                </a:solidFill>
                <a:latin typeface="Arial"/>
                <a:ea typeface="Arial"/>
                <a:cs typeface="Arial"/>
              </a:rPr>
              <a:t>For a dwell at resonance</a:t>
            </a:r>
          </a:p>
        </p:txBody>
      </p:sp>
      <p:sp>
        <p:nvSpPr>
          <p:cNvPr id="9" name="EQ_RESONANT_PEAK">
            <a:extLst xmlns:a="http://schemas.openxmlformats.org/drawingml/2006/main">
              <a:ext uri="{FF2B5EF4-FFF2-40B4-BE49-F238E27FC236}">
                <a16:creationId xmlns:a16="http://schemas.microsoft.com/office/drawing/2014/main" id="{ED3A64BD-6AEB-4176-81B7-980A5403987D}"/>
              </a:ext>
            </a:extLst>
          </p:cNvPr>
          <p:cNvSpPr>
            <a:spLocks xmlns:a="http://schemas.openxmlformats.org/drawingml/2006/main" noGrp="1"/>
          </p:cNvSpPr>
          <p:nvPr/>
        </p:nvSpPr>
        <p:spPr>
          <a:xfrm xmlns:a="http://schemas.openxmlformats.org/drawingml/2006/main">
            <a:off x="514350" y="4486275"/>
            <a:ext cx="5181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172D40"/>
                </a:solidFill>
                <a:latin typeface="Arial"/>
                <a:ea typeface="Arial"/>
                <a:cs typeface="Arial"/>
              </a:defRPr>
            </a:defPPr>
          </a:lstStyle>
          <a:p xmlns:a="http://schemas.openxmlformats.org/drawingml/2006/main">
            <a:pPr algn="l">
              <a:defRPr sz="2175">
                <a:latin typeface="Cambria Math"/>
              </a:defRPr>
            </a:pPr>
            <a14:m xmlns:a14="http://schemas.microsoft.com/office/drawing/2010/main">
              <m:oMathPara xmlns:m="http://schemas.openxmlformats.org/officeDocument/2006/math">
                <m:oMathParaPr>
                  <m:jc m:val="left"/>
                </m:oMathParaPr>
                <m:oMath>
                  <m:sSub>
                    <m:e>
                      <m:r>
                        <m:rPr>
                          <m:sty m:val="p"/>
                        </m:rPr>
                        <a:rPr sz="2175" lang="en-US">
                          <a:solidFill>
                            <a:srgbClr val="172D40"/>
                          </a:solidFill>
                          <a:latin typeface="Cambria Math"/>
                        </a:rPr>
                        <m:t>z</m:t>
                      </m:r>
                    </m:e>
                    <m:sub>
                      <m:r>
                        <m:rPr>
                          <m:sty m:val="p"/>
                        </m:rPr>
                        <a:rPr sz="2175" lang="en-US">
                          <a:solidFill>
                            <a:srgbClr val="172D40"/>
                          </a:solidFill>
                          <a:latin typeface="Cambria Math"/>
                        </a:rPr>
                        <m:t>dwell,pk</m:t>
                      </m:r>
                    </m:sub>
                  </m:sSub>
                  <m:r>
                    <m:rPr>
                      <m:sty m:val="p"/>
                    </m:rPr>
                    <a:rPr sz="2175" lang="en-US">
                      <a:solidFill>
                        <a:srgbClr val="172D40"/>
                      </a:solidFill>
                      <a:latin typeface="Cambria Math"/>
                    </a:rPr>
                    <m:t> = </m:t>
                  </m:r>
                  <m:f>
                    <m:num>
                      <m:sSub>
                        <m:e>
                          <m:r>
                            <m:rPr>
                              <m:sty m:val="p"/>
                            </m:rPr>
                            <a:rPr sz="2175" lang="en-US">
                              <a:solidFill>
                                <a:srgbClr val="172D40"/>
                              </a:solidFill>
                              <a:latin typeface="Cambria Math"/>
                            </a:rPr>
                            <m:t>g</m:t>
                          </m:r>
                        </m:e>
                        <m:sub>
                          <m:r>
                            <m:rPr>
                              <m:sty m:val="p"/>
                            </m:rPr>
                            <a:rPr sz="2175" lang="en-US">
                              <a:solidFill>
                                <a:srgbClr val="172D40"/>
                              </a:solidFill>
                              <a:latin typeface="Cambria Math"/>
                            </a:rPr>
                            <m:t>0</m:t>
                          </m:r>
                        </m:sub>
                      </m:sSub>
                      <m:r>
                        <m:rPr>
                          <m:sty m:val="p"/>
                        </m:rPr>
                        <a:rPr sz="2175" lang="en-US">
                          <a:solidFill>
                            <a:srgbClr val="172D40"/>
                          </a:solidFill>
                          <a:latin typeface="Cambria Math"/>
                        </a:rPr>
                        <m:t> Q </m:t>
                      </m:r>
                      <m:sSub>
                        <m:e>
                          <m:r>
                            <m:rPr>
                              <m:sty m:val="p"/>
                            </m:rPr>
                            <a:rPr sz="2175" lang="en-US">
                              <a:solidFill>
                                <a:srgbClr val="172D40"/>
                              </a:solidFill>
                              <a:latin typeface="Cambria Math"/>
                            </a:rPr>
                            <m:t>a</m:t>
                          </m:r>
                        </m:e>
                        <m:sub>
                          <m:r>
                            <m:rPr>
                              <m:sty m:val="p"/>
                            </m:rPr>
                            <a:rPr sz="2175" lang="en-US">
                              <a:solidFill>
                                <a:srgbClr val="172D40"/>
                              </a:solidFill>
                              <a:latin typeface="Cambria Math"/>
                            </a:rPr>
                            <m:t>g</m:t>
                          </m:r>
                        </m:sub>
                      </m:sSub>
                    </m:num>
                    <m:den>
                      <m:sSup>
                        <m:e>
                          <m:d>
                            <m:dPr>
                              <m:begChr m:val="("/>
                              <m:endChr m:val=")"/>
                            </m:dPr>
                            <m:e>
                              <m:r>
                                <m:rPr>
                                  <m:sty m:val="p"/>
                                </m:rPr>
                                <a:rPr sz="2175" lang="en-US">
                                  <a:solidFill>
                                    <a:srgbClr val="172D40"/>
                                  </a:solidFill>
                                  <a:latin typeface="Cambria Math"/>
                                </a:rPr>
                                <m:t>2π</m:t>
                              </m:r>
                              <m:sSub>
                                <m:e>
                                  <m:r>
                                    <m:rPr>
                                      <m:sty m:val="p"/>
                                    </m:rPr>
                                    <a:rPr sz="2175" lang="en-US">
                                      <a:solidFill>
                                        <a:srgbClr val="172D40"/>
                                      </a:solidFill>
                                      <a:latin typeface="Cambria Math"/>
                                    </a:rPr>
                                    <m:t>f</m:t>
                                  </m:r>
                                </m:e>
                                <m:sub>
                                  <m:r>
                                    <m:rPr>
                                      <m:sty m:val="p"/>
                                    </m:rPr>
                                    <a:rPr sz="2175" lang="en-US">
                                      <a:solidFill>
                                        <a:srgbClr val="172D40"/>
                                      </a:solidFill>
                                      <a:latin typeface="Cambria Math"/>
                                    </a:rPr>
                                    <m:t>n</m:t>
                                  </m:r>
                                </m:sub>
                              </m:sSub>
                            </m:e>
                          </m:d>
                        </m:e>
                        <m:sup>
                          <m:r>
                            <m:rPr>
                              <m:sty m:val="p"/>
                            </m:rPr>
                            <a:rPr sz="2175" lang="en-US">
                              <a:solidFill>
                                <a:srgbClr val="172D40"/>
                              </a:solidFill>
                              <a:latin typeface="Cambria Math"/>
                            </a:rPr>
                            <m:t>2</m:t>
                          </m:r>
                        </m:sup>
                      </m:sSup>
                    </m:den>
                  </m:f>
                </m:oMath>
              </m:oMathPara>
            </a14:m>
            <a:endParaRPr sz="2175"/>
          </a:p>
        </p:txBody>
      </p:sp>
      <p:sp>
        <p:nvSpPr>
          <p:cNvPr id="10" name="EQ_RANDOM_PEAK">
            <a:extLst xmlns:a="http://schemas.openxmlformats.org/drawingml/2006/main">
              <a:ext uri="{FF2B5EF4-FFF2-40B4-BE49-F238E27FC236}">
                <a16:creationId xmlns:a16="http://schemas.microsoft.com/office/drawing/2014/main" id="{E5D363B2-2D7F-4EEC-81A0-37E51F385255}"/>
              </a:ext>
            </a:extLst>
          </p:cNvPr>
          <p:cNvSpPr>
            <a:spLocks xmlns:a="http://schemas.openxmlformats.org/drawingml/2006/main" noGrp="1"/>
          </p:cNvSpPr>
          <p:nvPr/>
        </p:nvSpPr>
        <p:spPr>
          <a:xfrm xmlns:a="http://schemas.openxmlformats.org/drawingml/2006/main">
            <a:off x="6496050" y="3219450"/>
            <a:ext cx="5181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172D40"/>
                </a:solidFill>
                <a:latin typeface="Arial"/>
                <a:ea typeface="Arial"/>
                <a:cs typeface="Arial"/>
              </a:defRPr>
            </a:defPPr>
          </a:lstStyle>
          <a:p xmlns:a="http://schemas.openxmlformats.org/drawingml/2006/main">
            <a:pPr algn="l">
              <a:defRPr sz="2250">
                <a:latin typeface="Cambria Math"/>
              </a:defRPr>
            </a:pPr>
            <a14:m xmlns:a14="http://schemas.microsoft.com/office/drawing/2010/main">
              <m:oMathPara xmlns:m="http://schemas.openxmlformats.org/officeDocument/2006/math">
                <m:oMathParaPr>
                  <m:jc m:val="left"/>
                </m:oMathParaPr>
                <m:oMath>
                  <m:sSub>
                    <m:e>
                      <m:r>
                        <m:rPr>
                          <m:sty m:val="p"/>
                        </m:rPr>
                        <a:rPr sz="2250" lang="en-US">
                          <a:solidFill>
                            <a:srgbClr val="172D40"/>
                          </a:solidFill>
                          <a:latin typeface="Cambria Math"/>
                        </a:rPr>
                        <m:t>z</m:t>
                      </m:r>
                    </m:e>
                    <m:sub>
                      <m:r>
                        <m:rPr>
                          <m:sty m:val="p"/>
                        </m:rPr>
                        <a:rPr sz="2250" lang="en-US">
                          <a:solidFill>
                            <a:srgbClr val="172D40"/>
                          </a:solidFill>
                          <a:latin typeface="Cambria Math"/>
                        </a:rPr>
                        <m:t>r,pk</m:t>
                      </m:r>
                    </m:sub>
                  </m:sSub>
                  <m:r>
                    <m:rPr>
                      <m:sty m:val="p"/>
                    </m:rPr>
                    <a:rPr sz="2250" lang="en-US">
                      <a:solidFill>
                        <a:srgbClr val="172D40"/>
                      </a:solidFill>
                      <a:latin typeface="Cambria Math"/>
                    </a:rPr>
                    <m:t> = kσ,    σ = </m:t>
                  </m:r>
                  <m:rad>
                    <m:radPr>
                      <m:degHide m:val="1"/>
                    </m:radPr>
                    <m:deg/>
                    <m:e>
                      <m:sSub>
                        <m:e>
                          <m:r>
                            <m:rPr>
                              <m:sty m:val="p"/>
                            </m:rPr>
                            <a:rPr sz="2250" lang="en-US">
                              <a:solidFill>
                                <a:srgbClr val="172D40"/>
                              </a:solidFill>
                              <a:latin typeface="Cambria Math"/>
                            </a:rPr>
                            <m:t>m</m:t>
                          </m:r>
                        </m:e>
                        <m:sub>
                          <m:r>
                            <m:rPr>
                              <m:sty m:val="p"/>
                            </m:rPr>
                            <a:rPr sz="2250" lang="en-US">
                              <a:solidFill>
                                <a:srgbClr val="172D40"/>
                              </a:solidFill>
                              <a:latin typeface="Cambria Math"/>
                            </a:rPr>
                            <m:t>0</m:t>
                          </m:r>
                        </m:sub>
                      </m:sSub>
                    </m:e>
                  </m:rad>
                </m:oMath>
              </m:oMathPara>
            </a14:m>
            <a:endParaRPr sz="2250"/>
          </a:p>
        </p:txBody>
      </p:sp>
      <p:sp>
        <p:nvSpPr>
          <p:cNvPr id="11" name="EQ_EVENT_CYCLES">
            <a:extLst xmlns:a="http://schemas.openxmlformats.org/drawingml/2006/main">
              <a:ext uri="{FF2B5EF4-FFF2-40B4-BE49-F238E27FC236}">
                <a16:creationId xmlns:a16="http://schemas.microsoft.com/office/drawing/2014/main" id="{E5D2852A-62BC-409E-85FA-EAF79C60F834}"/>
              </a:ext>
            </a:extLst>
          </p:cNvPr>
          <p:cNvSpPr>
            <a:spLocks xmlns:a="http://schemas.openxmlformats.org/drawingml/2006/main" noGrp="1"/>
          </p:cNvSpPr>
          <p:nvPr/>
        </p:nvSpPr>
        <p:spPr>
          <a:xfrm xmlns:a="http://schemas.openxmlformats.org/drawingml/2006/main">
            <a:off x="6496050" y="3829050"/>
            <a:ext cx="5181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172D40"/>
                </a:solidFill>
                <a:latin typeface="Arial"/>
                <a:ea typeface="Arial"/>
                <a:cs typeface="Arial"/>
              </a:defRPr>
            </a:defPPr>
          </a:lstStyle>
          <a:p xmlns:a="http://schemas.openxmlformats.org/drawingml/2006/main">
            <a:pPr algn="l">
              <a:defRPr sz="2025">
                <a:latin typeface="Cambria Math"/>
              </a:defRPr>
            </a:pPr>
            <a14:m xmlns:a14="http://schemas.microsoft.com/office/drawing/2010/main">
              <m:oMathPara xmlns:m="http://schemas.openxmlformats.org/officeDocument/2006/math">
                <m:oMathParaPr>
                  <m:jc m:val="left"/>
                </m:oMathParaPr>
                <m:oMath>
                  <m:r>
                    <m:rPr>
                      <m:sty m:val="p"/>
                    </m:rPr>
                    <a:rPr sz="2025" lang="en-US">
                      <a:solidFill>
                        <a:srgbClr val="172D40"/>
                      </a:solidFill>
                      <a:latin typeface="Cambria Math"/>
                    </a:rPr>
                    <m:t>N = </m:t>
                  </m:r>
                  <m:sSub>
                    <m:e>
                      <m:r>
                        <m:rPr>
                          <m:sty m:val="p"/>
                        </m:rPr>
                        <a:rPr sz="2025" lang="en-US">
                          <a:solidFill>
                            <a:srgbClr val="172D40"/>
                          </a:solidFill>
                          <a:latin typeface="Cambria Math"/>
                        </a:rPr>
                        <m:t>ν</m:t>
                      </m:r>
                    </m:e>
                    <m:sub>
                      <m:r>
                        <m:rPr>
                          <m:sty m:val="p"/>
                        </m:rPr>
                        <a:rPr sz="2025" lang="en-US">
                          <a:solidFill>
                            <a:srgbClr val="172D40"/>
                          </a:solidFill>
                          <a:latin typeface="Cambria Math"/>
                        </a:rPr>
                        <m:t>0</m:t>
                      </m:r>
                    </m:sub>
                  </m:sSub>
                  <m:r>
                    <m:rPr>
                      <m:sty m:val="p"/>
                    </m:rPr>
                    <a:rPr sz="2025" lang="en-US">
                      <a:solidFill>
                        <a:srgbClr val="172D40"/>
                      </a:solidFill>
                      <a:latin typeface="Cambria Math"/>
                    </a:rPr>
                    <m:t> T,    L = </m:t>
                  </m:r>
                  <m:rad>
                    <m:radPr>
                      <m:degHide m:val="1"/>
                    </m:radPr>
                    <m:deg/>
                    <m:e>
                      <m:r>
                        <m:rPr>
                          <m:sty m:val="p"/>
                        </m:rPr>
                        <a:rPr sz="2025" lang="en-US">
                          <a:solidFill>
                            <a:srgbClr val="172D40"/>
                          </a:solidFill>
                          <a:latin typeface="Cambria Math"/>
                        </a:rPr>
                        <m:t>2 ln N</m:t>
                      </m:r>
                    </m:e>
                  </m:rad>
                </m:oMath>
              </m:oMathPara>
            </a14:m>
            <a:endParaRPr sz="2025"/>
          </a:p>
        </p:txBody>
      </p:sp>
      <p:sp>
        <p:nvSpPr>
          <p:cNvPr id="12" name="EQ_EXTREME_K">
            <a:extLst xmlns:a="http://schemas.openxmlformats.org/drawingml/2006/main">
              <a:ext uri="{FF2B5EF4-FFF2-40B4-BE49-F238E27FC236}">
                <a16:creationId xmlns:a16="http://schemas.microsoft.com/office/drawing/2014/main" id="{01DC2AA8-CD56-4156-9CEA-44E53A6D3A39}"/>
              </a:ext>
            </a:extLst>
          </p:cNvPr>
          <p:cNvSpPr>
            <a:spLocks xmlns:a="http://schemas.openxmlformats.org/drawingml/2006/main" noGrp="1"/>
          </p:cNvSpPr>
          <p:nvPr/>
        </p:nvSpPr>
        <p:spPr>
          <a:xfrm xmlns:a="http://schemas.openxmlformats.org/drawingml/2006/main">
            <a:off x="6496050" y="4448175"/>
            <a:ext cx="5181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172D40"/>
                </a:solidFill>
                <a:latin typeface="Arial"/>
                <a:ea typeface="Arial"/>
                <a:cs typeface="Arial"/>
              </a:defRPr>
            </a:defPPr>
          </a:lstStyle>
          <a:p xmlns:a="http://schemas.openxmlformats.org/drawingml/2006/main">
            <a:pPr algn="l">
              <a:defRPr sz="1875">
                <a:latin typeface="Cambria Math"/>
              </a:defRPr>
            </a:pPr>
            <a14:m xmlns:a14="http://schemas.microsoft.com/office/drawing/2010/main">
              <m:oMathPara xmlns:m="http://schemas.openxmlformats.org/officeDocument/2006/math">
                <m:oMathParaPr>
                  <m:jc m:val="left"/>
                </m:oMathParaPr>
                <m:oMath>
                  <m:sSub>
                    <m:e>
                      <m:r>
                        <m:rPr>
                          <m:sty m:val="p"/>
                        </m:rPr>
                        <a:rPr sz="1875" lang="en-US">
                          <a:solidFill>
                            <a:srgbClr val="172D40"/>
                          </a:solidFill>
                          <a:latin typeface="Cambria Math"/>
                        </a:rPr>
                        <m:t>k</m:t>
                      </m:r>
                    </m:e>
                    <m:sub>
                      <m:r>
                        <m:rPr>
                          <m:sty m:val="p"/>
                        </m:rPr>
                        <a:rPr sz="1875" lang="en-US">
                          <a:solidFill>
                            <a:srgbClr val="172D40"/>
                          </a:solidFill>
                          <a:latin typeface="Cambria Math"/>
                        </a:rPr>
                        <m:t>ext</m:t>
                      </m:r>
                    </m:sub>
                  </m:sSub>
                  <m:r>
                    <m:rPr>
                      <m:sty m:val="p"/>
                    </m:rPr>
                    <a:rPr sz="1875" lang="en-US">
                      <a:solidFill>
                        <a:srgbClr val="172D40"/>
                      </a:solidFill>
                      <a:latin typeface="Cambria Math"/>
                    </a:rPr>
                    <m:t> = </m:t>
                  </m:r>
                  <m:d>
                    <m:dPr>
                      <m:begChr m:val="("/>
                      <m:endChr m:val=")"/>
                    </m:dPr>
                    <m:e>
                      <m:r>
                        <m:rPr>
                          <m:sty m:val="p"/>
                        </m:rPr>
                        <a:rPr sz="1875" lang="en-US">
                          <a:solidFill>
                            <a:srgbClr val="172D40"/>
                          </a:solidFill>
                          <a:latin typeface="Cambria Math"/>
                        </a:rPr>
                        <m:t>L + </m:t>
                      </m:r>
                      <m:f>
                        <m:num>
                          <m:r>
                            <m:rPr>
                              <m:sty m:val="p"/>
                            </m:rPr>
                            <a:rPr sz="1875" lang="en-US">
                              <a:solidFill>
                                <a:srgbClr val="172D40"/>
                              </a:solidFill>
                              <a:latin typeface="Cambria Math"/>
                            </a:rPr>
                            <m:t>0.5772</m:t>
                          </m:r>
                        </m:num>
                        <m:den>
                          <m:r>
                            <m:rPr>
                              <m:sty m:val="p"/>
                            </m:rPr>
                            <a:rPr sz="1875" lang="en-US">
                              <a:solidFill>
                                <a:srgbClr val="172D40"/>
                              </a:solidFill>
                              <a:latin typeface="Cambria Math"/>
                            </a:rPr>
                            <m:t>L</m:t>
                          </m:r>
                        </m:den>
                      </m:f>
                    </m:e>
                  </m:d>
                  <m:r>
                    <m:rPr>
                      <m:sty m:val="p"/>
                    </m:rPr>
                    <a:rPr sz="1875" lang="en-US">
                      <a:solidFill>
                        <a:srgbClr val="172D40"/>
                      </a:solidFill>
                      <a:latin typeface="Cambria Math"/>
                    </a:rPr>
                    <m:t> </m:t>
                  </m:r>
                  <m:rad>
                    <m:radPr>
                      <m:degHide m:val="1"/>
                    </m:radPr>
                    <m:deg/>
                    <m:e>
                      <m:f>
                        <m:num>
                          <m:r>
                            <m:rPr>
                              <m:sty m:val="p"/>
                            </m:rPr>
                            <a:rPr sz="1875" lang="en-US">
                              <a:solidFill>
                                <a:srgbClr val="172D40"/>
                              </a:solidFill>
                              <a:latin typeface="Cambria Math"/>
                            </a:rPr>
                            <m:t>−ln</m:t>
                          </m:r>
                          <m:d>
                            <m:dPr>
                              <m:begChr m:val="("/>
                              <m:endChr m:val=")"/>
                            </m:dPr>
                            <m:e>
                              <m:r>
                                <m:rPr>
                                  <m:sty m:val="p"/>
                                </m:rPr>
                                <a:rPr sz="1875" lang="en-US">
                                  <a:solidFill>
                                    <a:srgbClr val="172D40"/>
                                  </a:solidFill>
                                  <a:latin typeface="Cambria Math"/>
                                </a:rPr>
                                <m:t>1 − </m:t>
                              </m:r>
                              <m:sSup>
                                <m:e>
                                  <m:r>
                                    <m:rPr>
                                      <m:sty m:val="p"/>
                                    </m:rPr>
                                    <a:rPr sz="1875" lang="en-US">
                                      <a:solidFill>
                                        <a:srgbClr val="172D40"/>
                                      </a:solidFill>
                                      <a:latin typeface="Cambria Math"/>
                                    </a:rPr>
                                    <m:t>p</m:t>
                                  </m:r>
                                </m:e>
                                <m:sup>
                                  <m:r>
                                    <m:rPr>
                                      <m:sty m:val="p"/>
                                    </m:rPr>
                                    <a:rPr sz="1875" lang="en-US">
                                      <a:solidFill>
                                        <a:srgbClr val="172D40"/>
                                      </a:solidFill>
                                      <a:latin typeface="Cambria Math"/>
                                    </a:rPr>
                                    <m:t>1/N</m:t>
                                  </m:r>
                                </m:sup>
                              </m:sSup>
                            </m:e>
                          </m:d>
                        </m:num>
                        <m:den>
                          <m:r>
                            <m:rPr>
                              <m:sty m:val="p"/>
                            </m:rPr>
                            <a:rPr sz="1875" lang="en-US">
                              <a:solidFill>
                                <a:srgbClr val="172D40"/>
                              </a:solidFill>
                              <a:latin typeface="Cambria Math"/>
                            </a:rPr>
                            <m:t>ln N</m:t>
                          </m:r>
                        </m:den>
                      </m:f>
                    </m:e>
                  </m:rad>
                </m:oMath>
              </m:oMathPara>
            </a14:m>
            <a:endParaRPr sz="1875"/>
          </a:p>
        </p:txBody>
      </p:sp>
      <p:sp>
        <p:nvSpPr>
          <p:cNvPr id="13" name="coverage-label">
            <a:extLst xmlns:a="http://schemas.openxmlformats.org/drawingml/2006/main">
              <a:ext uri="{FF2B5EF4-FFF2-40B4-BE49-F238E27FC236}">
                <a16:creationId xmlns:a16="http://schemas.microsoft.com/office/drawing/2014/main" id="{FD2231DF-238A-43DA-8B84-399AFDB375FF}"/>
              </a:ext>
            </a:extLst>
          </p:cNvPr>
          <p:cNvSpPr>
            <a:spLocks xmlns:a="http://schemas.openxmlformats.org/drawingml/2006/main" noGrp="1"/>
          </p:cNvSpPr>
          <p:nvPr/>
        </p:nvSpPr>
        <p:spPr>
          <a:xfrm xmlns:a="http://schemas.openxmlformats.org/drawingml/2006/main">
            <a:off x="514350" y="537210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F83"/>
                </a:solidFill>
                <a:latin typeface="Arial"/>
                <a:ea typeface="Arial"/>
                <a:cs typeface="Arial"/>
              </a:defRPr>
            </a:defPPr>
          </a:lstStyle>
          <a:p xmlns:a="http://schemas.openxmlformats.org/drawingml/2006/main">
            <a:pPr>
              <a:defRPr sz="2100" b="1">
                <a:solidFill>
                  <a:srgbClr val="087F83"/>
                </a:solidFill>
                <a:latin typeface="Arial"/>
                <a:ea typeface="Arial"/>
                <a:cs typeface="Arial"/>
              </a:defRPr>
            </a:pPr>
            <a:r>
              <a:rPr sz="2100" b="1">
                <a:solidFill>
                  <a:srgbClr val="087F83"/>
                </a:solidFill>
                <a:latin typeface="Arial"/>
                <a:ea typeface="Arial"/>
                <a:cs typeface="Arial"/>
              </a:rPr>
              <a:t>Peak coverage</a:t>
            </a:r>
          </a:p>
        </p:txBody>
      </p:sp>
      <p:sp>
        <p:nvSpPr>
          <p:cNvPr id="14" name="EQ_PEAK_COVERAGE">
            <a:extLst xmlns:a="http://schemas.openxmlformats.org/drawingml/2006/main">
              <a:ext uri="{FF2B5EF4-FFF2-40B4-BE49-F238E27FC236}">
                <a16:creationId xmlns:a16="http://schemas.microsoft.com/office/drawing/2014/main" id="{2659235F-D6BF-451D-A466-AA5A67C2E1FB}"/>
              </a:ext>
            </a:extLst>
          </p:cNvPr>
          <p:cNvSpPr>
            <a:spLocks xmlns:a="http://schemas.openxmlformats.org/drawingml/2006/main" noGrp="1"/>
          </p:cNvSpPr>
          <p:nvPr/>
        </p:nvSpPr>
        <p:spPr>
          <a:xfrm xmlns:a="http://schemas.openxmlformats.org/drawingml/2006/main">
            <a:off x="3295650" y="5238750"/>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0">
                <a:solidFill>
                  <a:srgbClr val="172D40"/>
                </a:solidFill>
                <a:latin typeface="Arial"/>
                <a:ea typeface="Arial"/>
                <a:cs typeface="Arial"/>
              </a:defRPr>
            </a:defPPr>
          </a:lstStyle>
          <a:p xmlns:a="http://schemas.openxmlformats.org/drawingml/2006/main">
            <a:pPr algn="l">
              <a:defRPr sz="2550">
                <a:latin typeface="Cambria Math"/>
              </a:defRPr>
            </a:pPr>
            <a14:m xmlns:a14="http://schemas.microsoft.com/office/drawing/2010/main">
              <m:oMathPara xmlns:m="http://schemas.openxmlformats.org/officeDocument/2006/math">
                <m:oMathParaPr>
                  <m:jc m:val="left"/>
                </m:oMathParaPr>
                <m:oMath>
                  <m:sSub>
                    <m:e>
                      <m:r>
                        <m:rPr>
                          <m:sty m:val="p"/>
                        </m:rPr>
                        <a:rPr sz="2550" lang="en-US">
                          <a:solidFill>
                            <a:srgbClr val="172D40"/>
                          </a:solidFill>
                          <a:latin typeface="Cambria Math"/>
                        </a:rPr>
                        <m:t>C</m:t>
                      </m:r>
                    </m:e>
                    <m:sub>
                      <m:r>
                        <m:rPr>
                          <m:sty m:val="p"/>
                        </m:rPr>
                        <a:rPr sz="2550" lang="en-US">
                          <a:solidFill>
                            <a:srgbClr val="172D40"/>
                          </a:solidFill>
                          <a:latin typeface="Cambria Math"/>
                        </a:rPr>
                        <m:t>p</m:t>
                      </m:r>
                    </m:sub>
                  </m:sSub>
                  <m:r>
                    <m:rPr>
                      <m:sty m:val="p"/>
                    </m:rPr>
                    <a:rPr sz="2550" lang="en-US">
                      <a:solidFill>
                        <a:srgbClr val="172D40"/>
                      </a:solidFill>
                      <a:latin typeface="Cambria Math"/>
                    </a:rPr>
                    <m:t> = </m:t>
                  </m:r>
                  <m:f>
                    <m:num>
                      <m:sSub>
                        <m:e>
                          <m:r>
                            <m:rPr>
                              <m:sty m:val="p"/>
                            </m:rPr>
                            <a:rPr sz="2550" lang="en-US">
                              <a:solidFill>
                                <a:srgbClr val="172D40"/>
                              </a:solidFill>
                              <a:latin typeface="Cambria Math"/>
                            </a:rPr>
                            <m:t>z</m:t>
                          </m:r>
                        </m:e>
                        <m:sub>
                          <m:r>
                            <m:rPr>
                              <m:sty m:val="p"/>
                            </m:rPr>
                            <a:rPr sz="2550" lang="en-US">
                              <a:solidFill>
                                <a:srgbClr val="172D40"/>
                              </a:solidFill>
                              <a:latin typeface="Cambria Math"/>
                            </a:rPr>
                            <m:t>s,pk</m:t>
                          </m:r>
                        </m:sub>
                      </m:sSub>
                    </m:num>
                    <m:den>
                      <m:sSub>
                        <m:e>
                          <m:r>
                            <m:rPr>
                              <m:sty m:val="p"/>
                            </m:rPr>
                            <a:rPr sz="2550" lang="en-US">
                              <a:solidFill>
                                <a:srgbClr val="172D40"/>
                              </a:solidFill>
                              <a:latin typeface="Cambria Math"/>
                            </a:rPr>
                            <m:t>z</m:t>
                          </m:r>
                        </m:e>
                        <m:sub>
                          <m:r>
                            <m:rPr>
                              <m:sty m:val="p"/>
                            </m:rPr>
                            <a:rPr sz="2550" lang="en-US">
                              <a:solidFill>
                                <a:srgbClr val="172D40"/>
                              </a:solidFill>
                              <a:latin typeface="Cambria Math"/>
                            </a:rPr>
                            <m:t>r,pk</m:t>
                          </m:r>
                        </m:sub>
                      </m:sSub>
                    </m:den>
                  </m:f>
                </m:oMath>
              </m:oMathPara>
            </a14:m>
            <a:endParaRPr sz="2550"/>
          </a:p>
        </p:txBody>
      </p:sp>
      <p:sp>
        <p:nvSpPr>
          <p:cNvPr id="15" name="coverage-meaning">
            <a:extLst xmlns:a="http://schemas.openxmlformats.org/drawingml/2006/main">
              <a:ext uri="{FF2B5EF4-FFF2-40B4-BE49-F238E27FC236}">
                <a16:creationId xmlns:a16="http://schemas.microsoft.com/office/drawing/2014/main" id="{041C348C-D045-4A17-8152-FB7FA9022178}"/>
              </a:ext>
            </a:extLst>
          </p:cNvPr>
          <p:cNvSpPr>
            <a:spLocks xmlns:a="http://schemas.openxmlformats.org/drawingml/2006/main" noGrp="1"/>
          </p:cNvSpPr>
          <p:nvPr/>
        </p:nvSpPr>
        <p:spPr>
          <a:xfrm xmlns:a="http://schemas.openxmlformats.org/drawingml/2006/main">
            <a:off x="8201025" y="5257800"/>
            <a:ext cx="3448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72D40"/>
                </a:solidFill>
                <a:latin typeface="Arial"/>
                <a:ea typeface="Arial"/>
                <a:cs typeface="Arial"/>
              </a:defRPr>
            </a:defPPr>
          </a:lstStyle>
          <a:p xmlns:a="http://schemas.openxmlformats.org/drawingml/2006/main">
            <a:pPr>
              <a:defRPr sz="1875" b="1">
                <a:solidFill>
                  <a:srgbClr val="172D40"/>
                </a:solidFill>
                <a:latin typeface="Arial"/>
                <a:ea typeface="Arial"/>
                <a:cs typeface="Arial"/>
              </a:defRPr>
            </a:pPr>
            <a:r>
              <a:rPr sz="1875" b="1">
                <a:solidFill>
                  <a:srgbClr val="172D40"/>
                </a:solidFill>
                <a:latin typeface="Arial"/>
                <a:ea typeface="Arial"/>
                <a:cs typeface="Arial"/>
              </a:rPr>
              <a:t>Coverage ≥ 1 meets</a:t>
            </a:r>
          </a:p>
          <a:p xmlns:a="http://schemas.openxmlformats.org/drawingml/2006/main">
            <a:pPr>
              <a:defRPr sz="1875" b="1">
                <a:solidFill>
                  <a:srgbClr val="172D40"/>
                </a:solidFill>
                <a:latin typeface="Arial"/>
                <a:ea typeface="Arial"/>
                <a:cs typeface="Arial"/>
              </a:defRPr>
            </a:pPr>
            <a:r>
              <a:rPr sz="1875" b="1">
                <a:solidFill>
                  <a:srgbClr val="172D40"/>
                </a:solidFill>
                <a:latin typeface="Arial"/>
                <a:ea typeface="Arial"/>
                <a:cs typeface="Arial"/>
              </a:rPr>
              <a:t>the selected peak screen.</a:t>
            </a:r>
          </a:p>
        </p:txBody>
      </p:sp>
      <p:sp>
        <p:nvSpPr>
          <p:cNvPr id="16" name="probability-scope">
            <a:extLst xmlns:a="http://schemas.openxmlformats.org/drawingml/2006/main">
              <a:ext uri="{FF2B5EF4-FFF2-40B4-BE49-F238E27FC236}">
                <a16:creationId xmlns:a16="http://schemas.microsoft.com/office/drawing/2014/main" id="{8552F6DC-8E16-4C26-BB3D-5B49C6D2D537}"/>
              </a:ext>
            </a:extLst>
          </p:cNvPr>
          <p:cNvSpPr>
            <a:spLocks xmlns:a="http://schemas.openxmlformats.org/drawingml/2006/main" noGrp="1"/>
          </p:cNvSpPr>
          <p:nvPr/>
        </p:nvSpPr>
        <p:spPr>
          <a:xfrm xmlns:a="http://schemas.openxmlformats.org/drawingml/2006/main">
            <a:off x="514350" y="6238875"/>
            <a:ext cx="11182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06779"/>
                </a:solidFill>
                <a:latin typeface="Arial"/>
                <a:ea typeface="Arial"/>
                <a:cs typeface="Arial"/>
              </a:defRPr>
            </a:defPPr>
          </a:lstStyle>
          <a:p xmlns:a="http://schemas.openxmlformats.org/drawingml/2006/main">
            <a:pPr>
              <a:defRPr sz="1725" b="0">
                <a:solidFill>
                  <a:srgbClr val="506779"/>
                </a:solidFill>
                <a:latin typeface="Arial"/>
                <a:ea typeface="Arial"/>
                <a:cs typeface="Arial"/>
              </a:defRPr>
            </a:pPr>
            <a:r>
              <a:rPr sz="1725" b="0">
                <a:solidFill>
                  <a:srgbClr val="506779"/>
                </a:solidFill>
                <a:latin typeface="Arial"/>
                <a:ea typeface="Arial"/>
                <a:cs typeface="Arial"/>
              </a:rPr>
              <a:t>Optional probability applies to one oscillator over the stated exposure.</a:t>
            </a:r>
          </a:p>
        </p:txBody>
      </p:sp>
    </p:spTree>
    <p:extLst>
      <p:ext uri="{BB962C8B-B14F-4D97-AF65-F5344CB8AC3E}">
        <p14:creationId xmlns:p14="http://schemas.microsoft.com/office/powerpoint/2010/main" val="6573867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2026-10-12T21:04:39.1980000Z</dcterms:created>
  <dcterms:modified xsi:type="dcterms:W3CDTF">2026-10-12T21:04:39.1980000Z</dcterms:modified>
</coreProperties>
</file>